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notesMasterIdLst>
    <p:notesMasterId r:id="rId4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notesMaster" Target="notesMasters/notesMaster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1005840" y="-914400"/>
            <a:ext cx="2926080" cy="2926080"/>
          </a:xfrm>
          <a:prstGeom prst="hexagon">
            <a:avLst/>
          </a:prstGeom>
          <a:solidFill>
            <a:srgbClr val="F0876A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 rot="-1080000">
            <a:off x="9692640" y="-1188720"/>
            <a:ext cx="2377440" cy="2377440"/>
          </a:xfrm>
          <a:prstGeom prst="hexagon">
            <a:avLst/>
          </a:prstGeom>
          <a:solidFill>
            <a:srgbClr val="CE9A2E">
              <a:alpha val="2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 rot="1200000">
            <a:off x="10607040" y="5120640"/>
            <a:ext cx="2743200" cy="2743200"/>
          </a:xfrm>
          <a:prstGeom prst="hexagon">
            <a:avLst/>
          </a:prstGeom>
          <a:solidFill>
            <a:srgbClr val="6B74C4">
              <a:alpha val="18000"/>
            </a:srgbClr>
          </a:solidFill>
          <a:ln/>
        </p:spPr>
      </p:sp>
      <p:sp>
        <p:nvSpPr>
          <p:cNvPr id="5" name="Shape 3"/>
          <p:cNvSpPr/>
          <p:nvPr/>
        </p:nvSpPr>
        <p:spPr>
          <a:xfrm rot="-600000">
            <a:off x="-1280160" y="4937760"/>
            <a:ext cx="2194560" cy="2194560"/>
          </a:xfrm>
          <a:prstGeom prst="hexagon">
            <a:avLst/>
          </a:prstGeom>
          <a:solidFill>
            <a:srgbClr val="2F9188">
              <a:alpha val="18000"/>
            </a:srgbClr>
          </a:solidFill>
          <a:ln/>
        </p:spPr>
      </p:sp>
      <p:sp>
        <p:nvSpPr>
          <p:cNvPr id="6" name="Shape 4"/>
          <p:cNvSpPr/>
          <p:nvPr/>
        </p:nvSpPr>
        <p:spPr>
          <a:xfrm rot="1800000">
            <a:off x="5120640" y="6035040"/>
            <a:ext cx="1280160" cy="1280160"/>
          </a:xfrm>
          <a:prstGeom prst="hexagon">
            <a:avLst/>
          </a:prstGeom>
          <a:solidFill>
            <a:srgbClr val="5E9E5B">
              <a:alpha val="1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5413248" y="566928"/>
            <a:ext cx="777240" cy="777240"/>
          </a:xfrm>
          <a:prstGeom prst="ellipse">
            <a:avLst/>
          </a:prstGeom>
          <a:solidFill>
            <a:srgbClr val="FDEEE7"/>
          </a:solidFill>
          <a:ln/>
        </p:spPr>
      </p:sp>
      <p:sp>
        <p:nvSpPr>
          <p:cNvPr id="8" name="Text 6"/>
          <p:cNvSpPr/>
          <p:nvPr/>
        </p:nvSpPr>
        <p:spPr>
          <a:xfrm>
            <a:off x="5413248" y="566928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000000"/>
                </a:solidFill>
              </a:rPr>
              <a:t>🌱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731520" y="1463040"/>
            <a:ext cx="10725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600"/>
              </a:lnSpc>
              <a:buNone/>
            </a:pPr>
            <a:r>
              <a:rPr lang="en-US" sz="1600" b="1" spc="1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①9月9日（水）10:00〜11:30　｜　②9月26日（土）9:30〜11:00</a:t>
            </a:r>
            <a:endParaRPr lang="en-US" sz="1600" dirty="0"/>
          </a:p>
          <a:p>
            <a:pPr algn="ctr" indent="0" marL="0">
              <a:lnSpc>
                <a:spcPts val="2600"/>
              </a:lnSpc>
              <a:buNone/>
            </a:pPr>
            <a:r>
              <a:rPr lang="en-US" sz="1600" b="1" spc="1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オンライン（Zoom）　｜　参加費：3,300円（感想アンケート協力で無料）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2286000"/>
            <a:ext cx="10725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「私、ちゃんと進んでた」に気づく90分</a:t>
            </a:r>
            <a:endParaRPr lang="en-US" sz="3700" dirty="0"/>
          </a:p>
        </p:txBody>
      </p:sp>
      <p:sp>
        <p:nvSpPr>
          <p:cNvPr id="11" name="Text 9"/>
          <p:cNvSpPr/>
          <p:nvPr/>
        </p:nvSpPr>
        <p:spPr>
          <a:xfrm>
            <a:off x="731520" y="3127248"/>
            <a:ext cx="10725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5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5050" dirty="0"/>
          </a:p>
        </p:txBody>
      </p:sp>
      <p:sp>
        <p:nvSpPr>
          <p:cNvPr id="12" name="Text 10"/>
          <p:cNvSpPr/>
          <p:nvPr/>
        </p:nvSpPr>
        <p:spPr>
          <a:xfrm>
            <a:off x="1280160" y="4370832"/>
            <a:ext cx="96286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500"/>
              </a:lnSpc>
              <a:buNone/>
            </a:pPr>
            <a:r>
              <a:rPr lang="en-US" sz="17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「頑張ってるはずなのに、なんだか進んでない気がする…」</a:t>
            </a:r>
            <a:endParaRPr lang="en-US" sz="1700" dirty="0"/>
          </a:p>
          <a:p>
            <a:pPr algn="ctr" indent="0" marL="0">
              <a:lnSpc>
                <a:spcPts val="2500"/>
              </a:lnSpc>
              <a:buNone/>
            </a:pPr>
            <a:r>
              <a:rPr lang="en-US" sz="17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そんな方と一緒に、自分の中にもうある小さな「できた」を見つけて、</a:t>
            </a:r>
            <a:endParaRPr lang="en-US" sz="1700" dirty="0"/>
          </a:p>
          <a:p>
            <a:pPr algn="ctr" indent="0" marL="0">
              <a:lnSpc>
                <a:spcPts val="2500"/>
              </a:lnSpc>
              <a:buNone/>
            </a:pPr>
            <a:r>
              <a:rPr lang="en-US" sz="17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「あれ？私、ちゃんと進んでた！」に気づく90分にしたいと思っています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31520" y="6291072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spc="200" kern="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できたのかけら診断 ── ワークショップ編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OPENING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「今日も何もできなかった」と</a:t>
            </a:r>
            <a:endParaRPr lang="en-US" sz="3100" dirty="0"/>
          </a:p>
          <a:p>
            <a:pPr algn="l"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思っていませんか？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640080" y="196596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850" b="1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頑張っているのに、なぜか前に進んでいる気がしない。</a:t>
            </a:r>
            <a:endParaRPr lang="en-US" sz="1850" dirty="0"/>
          </a:p>
        </p:txBody>
      </p:sp>
      <p:sp>
        <p:nvSpPr>
          <p:cNvPr id="6" name="Shape 4"/>
          <p:cNvSpPr/>
          <p:nvPr/>
        </p:nvSpPr>
        <p:spPr>
          <a:xfrm>
            <a:off x="640080" y="2514600"/>
            <a:ext cx="3484778" cy="1371600"/>
          </a:xfrm>
          <a:prstGeom prst="roundRect">
            <a:avLst>
              <a:gd name="adj" fmla="val 8000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062429" y="2715768"/>
            <a:ext cx="640080" cy="640080"/>
          </a:xfrm>
          <a:prstGeom prst="ellipse">
            <a:avLst/>
          </a:prstGeom>
          <a:solidFill>
            <a:srgbClr val="FDEEE7"/>
          </a:solidFill>
          <a:ln/>
        </p:spPr>
      </p:sp>
      <p:sp>
        <p:nvSpPr>
          <p:cNvPr id="8" name="Text 6"/>
          <p:cNvSpPr/>
          <p:nvPr/>
        </p:nvSpPr>
        <p:spPr>
          <a:xfrm>
            <a:off x="2062429" y="271576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777240" y="3429000"/>
            <a:ext cx="32104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目標を立てても</a:t>
            </a:r>
            <a:endParaRPr lang="en-US" sz="145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途中で止まる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4353458" y="2514600"/>
            <a:ext cx="3484778" cy="1371600"/>
          </a:xfrm>
          <a:prstGeom prst="roundRect">
            <a:avLst>
              <a:gd name="adj" fmla="val 8000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775808" y="2715768"/>
            <a:ext cx="640080" cy="640080"/>
          </a:xfrm>
          <a:prstGeom prst="ellipse">
            <a:avLst/>
          </a:prstGeom>
          <a:solidFill>
            <a:srgbClr val="FDEEE7"/>
          </a:solidFill>
          <a:ln/>
        </p:spPr>
      </p:sp>
      <p:sp>
        <p:nvSpPr>
          <p:cNvPr id="12" name="Text 10"/>
          <p:cNvSpPr/>
          <p:nvPr/>
        </p:nvSpPr>
        <p:spPr>
          <a:xfrm>
            <a:off x="5775808" y="271576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😔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4490618" y="3429000"/>
            <a:ext cx="32104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「またできなかった」と</a:t>
            </a:r>
            <a:endParaRPr lang="en-US" sz="145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自分を責める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8066837" y="2514600"/>
            <a:ext cx="3484778" cy="1371600"/>
          </a:xfrm>
          <a:prstGeom prst="roundRect">
            <a:avLst>
              <a:gd name="adj" fmla="val 8000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489186" y="2715768"/>
            <a:ext cx="640080" cy="640080"/>
          </a:xfrm>
          <a:prstGeom prst="ellipse">
            <a:avLst/>
          </a:prstGeom>
          <a:solidFill>
            <a:srgbClr val="FDEEE7"/>
          </a:solidFill>
          <a:ln/>
        </p:spPr>
      </p:sp>
      <p:sp>
        <p:nvSpPr>
          <p:cNvPr id="16" name="Text 14"/>
          <p:cNvSpPr/>
          <p:nvPr/>
        </p:nvSpPr>
        <p:spPr>
          <a:xfrm>
            <a:off x="9489186" y="271576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👀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8203997" y="3429000"/>
            <a:ext cx="32104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周りの「できた」ばかり</a:t>
            </a:r>
            <a:endParaRPr lang="en-US" sz="145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目に入る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640080" y="4160520"/>
            <a:ext cx="10911535" cy="1783080"/>
          </a:xfrm>
          <a:prstGeom prst="roundRect">
            <a:avLst>
              <a:gd name="adj" fmla="val 6154"/>
            </a:avLst>
          </a:prstGeom>
          <a:solidFill>
            <a:srgbClr val="FDEEE7"/>
          </a:solidFill>
          <a:ln/>
        </p:spPr>
      </p:sp>
      <p:sp>
        <p:nvSpPr>
          <p:cNvPr id="19" name="Text 17"/>
          <p:cNvSpPr/>
          <p:nvPr/>
        </p:nvSpPr>
        <p:spPr>
          <a:xfrm>
            <a:off x="1005840" y="4160520"/>
            <a:ext cx="10180015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1950" b="1" dirty="0">
                <a:solidFill>
                  <a:srgbClr val="DD6E4E"/>
                </a:solidFill>
              </a:rPr>
              <a:t>でも本当に、あなたは「何もできていない」のでしょうか？</a:t>
            </a:r>
            <a:endParaRPr lang="en-US" sz="19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4A3B30"/>
                </a:solidFill>
              </a:rPr>
              <a:t>今日の90分で見つけるのは、あなたの中に、もうある</a:t>
            </a:r>
            <a:pPr indent="0" marL="0">
              <a:spcAft>
                <a:spcPts val="1000"/>
              </a:spcAft>
              <a:buNone/>
            </a:pPr>
            <a:r>
              <a:rPr lang="en-US" sz="2050" b="1" dirty="0">
                <a:solidFill>
                  <a:srgbClr val="DD6E4E"/>
                </a:solidFill>
              </a:rPr>
              <a:t>「できたのかけら」</a:t>
            </a:r>
            <a:endParaRPr lang="en-US" sz="19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50" i="1" dirty="0">
                <a:solidFill>
                  <a:srgbClr val="8A7A6C"/>
                </a:solidFill>
              </a:rPr>
              <a:t>小さな「できた」が、未来への道しるべになる。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43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CE9A2E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MY STORY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2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私も「何もしていない」と思っていた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813816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208483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CE9A2E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208483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2025年11月5日の日記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2606040"/>
            <a:ext cx="7406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「欲しいのは、お金？多分違う。」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「私の口癖、何もしていない。」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 rot="180000">
            <a:off x="9183319" y="1746504"/>
            <a:ext cx="2450592" cy="3209544"/>
          </a:xfrm>
          <a:prstGeom prst="roundRect">
            <a:avLst>
              <a:gd name="adj" fmla="val 1493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  <a:effectLst>
            <a:outerShdw sx="100000" sy="100000" kx="0" ky="0" algn="bl" rotWithShape="0" blurRad="101600" dist="38100" dir="5400000">
              <a:srgbClr val="4A3B30">
                <a:alpha val="25000"/>
              </a:srgbClr>
            </a:outerShdw>
          </a:effectLst>
        </p:spPr>
      </p:sp>
      <p:pic>
        <p:nvPicPr>
          <p:cNvPr id="10" name="Image 0" descr="/home/user/dekitanokakera-LM/workshop/images/diary-2025-11-0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180000">
            <a:off x="9265615" y="1828800"/>
            <a:ext cx="2286000" cy="3044952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640080" y="3840480"/>
            <a:ext cx="1225296" cy="402336"/>
          </a:xfrm>
          <a:prstGeom prst="roundRect">
            <a:avLst>
              <a:gd name="adj" fmla="val 50000"/>
            </a:avLst>
          </a:prstGeom>
          <a:solidFill>
            <a:srgbClr val="E1F4F1"/>
          </a:solidFill>
          <a:ln/>
        </p:spPr>
      </p:sp>
      <p:sp>
        <p:nvSpPr>
          <p:cNvPr id="12" name="Text 9"/>
          <p:cNvSpPr/>
          <p:nvPr/>
        </p:nvSpPr>
        <p:spPr>
          <a:xfrm>
            <a:off x="640080" y="3840480"/>
            <a:ext cx="1225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子育て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2048256" y="3840480"/>
            <a:ext cx="1481328" cy="402336"/>
          </a:xfrm>
          <a:prstGeom prst="roundRect">
            <a:avLst>
              <a:gd name="adj" fmla="val 50000"/>
            </a:avLst>
          </a:prstGeom>
          <a:solidFill>
            <a:srgbClr val="E1F4F1"/>
          </a:solidFill>
          <a:ln/>
        </p:spPr>
      </p:sp>
      <p:sp>
        <p:nvSpPr>
          <p:cNvPr id="14" name="Text 11"/>
          <p:cNvSpPr/>
          <p:nvPr/>
        </p:nvSpPr>
        <p:spPr>
          <a:xfrm>
            <a:off x="2048256" y="3840480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ジム経営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3712464" y="3840480"/>
            <a:ext cx="2761488" cy="402336"/>
          </a:xfrm>
          <a:prstGeom prst="roundRect">
            <a:avLst>
              <a:gd name="adj" fmla="val 50000"/>
            </a:avLst>
          </a:prstGeom>
          <a:solidFill>
            <a:srgbClr val="E1F4F1"/>
          </a:solidFill>
          <a:ln/>
        </p:spPr>
      </p:sp>
      <p:sp>
        <p:nvSpPr>
          <p:cNvPr id="16" name="Text 13"/>
          <p:cNvSpPr/>
          <p:nvPr/>
        </p:nvSpPr>
        <p:spPr>
          <a:xfrm>
            <a:off x="3712464" y="3840480"/>
            <a:ext cx="2761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パワーリフティング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40080" y="44348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毎日やることはたくさんある。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640080" y="5074920"/>
            <a:ext cx="10911535" cy="658368"/>
          </a:xfrm>
          <a:prstGeom prst="roundRect">
            <a:avLst>
              <a:gd name="adj" fmla="val 19444"/>
            </a:avLst>
          </a:prstGeom>
          <a:solidFill>
            <a:srgbClr val="FDEEE7"/>
          </a:solidFill>
          <a:ln/>
        </p:spPr>
      </p:sp>
      <p:sp>
        <p:nvSpPr>
          <p:cNvPr id="19" name="Text 16"/>
          <p:cNvSpPr/>
          <p:nvPr/>
        </p:nvSpPr>
        <p:spPr>
          <a:xfrm>
            <a:off x="960120" y="5074920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8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それでも一日の終わりには、</a:t>
            </a:r>
            <a:endParaRPr lang="en-US" sz="18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8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「今日も何もできなかった。」</a:t>
            </a:r>
            <a:endParaRPr lang="en-US" sz="1850" dirty="0"/>
          </a:p>
        </p:txBody>
      </p:sp>
      <p:sp>
        <p:nvSpPr>
          <p:cNvPr id="20" name="Text 17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43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684368" y="502920"/>
            <a:ext cx="822960" cy="822960"/>
          </a:xfrm>
          <a:prstGeom prst="ellipse">
            <a:avLst/>
          </a:prstGeom>
          <a:solidFill>
            <a:srgbClr val="FDEEE7"/>
          </a:solidFill>
          <a:ln/>
        </p:spPr>
      </p:sp>
      <p:sp>
        <p:nvSpPr>
          <p:cNvPr id="4" name="Text 2"/>
          <p:cNvSpPr/>
          <p:nvPr/>
        </p:nvSpPr>
        <p:spPr>
          <a:xfrm>
            <a:off x="5684368" y="5029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000000"/>
                </a:solidFill>
              </a:rPr>
              <a:t>✨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1097280" y="1554480"/>
            <a:ext cx="99971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600"/>
              </a:lnSpc>
              <a:buNone/>
            </a:pPr>
            <a:r>
              <a:rPr lang="en-US" sz="19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でも、本当に欲しかったのは、</a:t>
            </a:r>
            <a:endParaRPr lang="en-US" sz="1950" dirty="0"/>
          </a:p>
          <a:p>
            <a:pPr algn="ctr" indent="0" marL="0">
              <a:lnSpc>
                <a:spcPts val="2600"/>
              </a:lnSpc>
              <a:buNone/>
            </a:pPr>
            <a:r>
              <a:rPr lang="en-US" sz="19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お金でも、完璧な自分でもありませんでした。</a:t>
            </a:r>
            <a:endParaRPr lang="en-US" sz="1950" dirty="0"/>
          </a:p>
        </p:txBody>
      </p:sp>
      <p:sp>
        <p:nvSpPr>
          <p:cNvPr id="6" name="Shape 4"/>
          <p:cNvSpPr/>
          <p:nvPr/>
        </p:nvSpPr>
        <p:spPr>
          <a:xfrm>
            <a:off x="2194560" y="2606040"/>
            <a:ext cx="7802575" cy="1051560"/>
          </a:xfrm>
          <a:prstGeom prst="roundRect">
            <a:avLst>
              <a:gd name="adj" fmla="val 10435"/>
            </a:avLst>
          </a:prstGeom>
          <a:solidFill>
            <a:srgbClr val="FDEEE7"/>
          </a:solidFill>
          <a:ln/>
        </p:spPr>
      </p:sp>
      <p:sp>
        <p:nvSpPr>
          <p:cNvPr id="7" name="Text 5"/>
          <p:cNvSpPr/>
          <p:nvPr/>
        </p:nvSpPr>
        <p:spPr>
          <a:xfrm>
            <a:off x="2194560" y="2606040"/>
            <a:ext cx="78025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3000" b="1" dirty="0">
                <a:solidFill>
                  <a:srgbClr val="DD6E4E"/>
                </a:solidFill>
              </a:rPr>
              <a:t>「私にもできた。」</a:t>
            </a:r>
            <a:endParaRPr lang="en-US" sz="30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4A3B30"/>
                </a:solidFill>
              </a:rPr>
              <a:t>そう、自分自身で思えること。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097280" y="4023360"/>
            <a:ext cx="99971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8A7A6C"/>
                </a:solidFill>
              </a:rPr>
              <a:t>そして気づきました。</a:t>
            </a:r>
            <a:endParaRPr lang="en-US" sz="1700" dirty="0"/>
          </a:p>
          <a:p>
            <a:pPr algn="ctr" indent="0" marL="0"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4A3B30"/>
                </a:solidFill>
              </a:rPr>
              <a:t>何もしていなかったんじゃない。</a:t>
            </a:r>
            <a:endParaRPr lang="en-US" sz="1700" dirty="0"/>
          </a:p>
          <a:p>
            <a:pPr algn="ctr" indent="0" marL="0"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DD6E4E"/>
                </a:solidFill>
              </a:rPr>
              <a:t>自分の「できた」に気づいていなかっただけ。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43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6B74C4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なぜ続かないのか　｜　① / 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続かないのは「意志」のせいじゃない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こんな経験、ありませんか？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194560"/>
            <a:ext cx="10911535" cy="2834640"/>
          </a:xfrm>
          <a:prstGeom prst="roundRect">
            <a:avLst>
              <a:gd name="adj" fmla="val 3871"/>
            </a:avLst>
          </a:prstGeom>
          <a:solidFill>
            <a:srgbClr val="ECEDFB"/>
          </a:solidFill>
          <a:ln/>
        </p:spPr>
      </p:sp>
      <p:sp>
        <p:nvSpPr>
          <p:cNvPr id="7" name="Shape 5"/>
          <p:cNvSpPr/>
          <p:nvPr/>
        </p:nvSpPr>
        <p:spPr>
          <a:xfrm>
            <a:off x="1097280" y="2514600"/>
            <a:ext cx="731520" cy="731520"/>
          </a:xfrm>
          <a:prstGeom prst="roundRect">
            <a:avLst>
              <a:gd name="adj" fmla="val 50000"/>
            </a:avLst>
          </a:prstGeom>
          <a:solidFill>
            <a:srgbClr val="6B74C4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2514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194560" y="2514600"/>
            <a:ext cx="8899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目標が大きすぎる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1371600" y="3474720"/>
            <a:ext cx="2905658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08760" y="3474720"/>
            <a:ext cx="263133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「毎日30分やる！」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277258" y="3474720"/>
            <a:ext cx="365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B74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4643018" y="3474720"/>
            <a:ext cx="2905658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80178" y="3474720"/>
            <a:ext cx="263133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できない日が来る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548677" y="3474720"/>
            <a:ext cx="365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B74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7914437" y="3474720"/>
            <a:ext cx="2905658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051597" y="3474720"/>
            <a:ext cx="263133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0になる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 / 43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6B74C4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なぜ続かないのか　｜　② / 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続かないのは「意志」のせいじゃない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こんな経験、ありませんか？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194560"/>
            <a:ext cx="10911535" cy="2834640"/>
          </a:xfrm>
          <a:prstGeom prst="roundRect">
            <a:avLst>
              <a:gd name="adj" fmla="val 3871"/>
            </a:avLst>
          </a:prstGeom>
          <a:solidFill>
            <a:srgbClr val="ECEDFB"/>
          </a:solidFill>
          <a:ln/>
        </p:spPr>
      </p:sp>
      <p:sp>
        <p:nvSpPr>
          <p:cNvPr id="7" name="Shape 5"/>
          <p:cNvSpPr/>
          <p:nvPr/>
        </p:nvSpPr>
        <p:spPr>
          <a:xfrm>
            <a:off x="1097280" y="2514600"/>
            <a:ext cx="731520" cy="731520"/>
          </a:xfrm>
          <a:prstGeom prst="roundRect">
            <a:avLst>
              <a:gd name="adj" fmla="val 50000"/>
            </a:avLst>
          </a:prstGeom>
          <a:solidFill>
            <a:srgbClr val="6B74C4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2514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194560" y="2514600"/>
            <a:ext cx="8899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できなかったことばかり見る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371600" y="3474720"/>
            <a:ext cx="94484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3000"/>
              </a:lnSpc>
              <a:buNone/>
            </a:pPr>
            <a:r>
              <a:rPr lang="en-US" sz="22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9個できても、1個できなかったら、</a:t>
            </a:r>
            <a:endParaRPr lang="en-US" sz="2200" dirty="0"/>
          </a:p>
          <a:p>
            <a:pPr algn="ctr" indent="0" marL="0">
              <a:lnSpc>
                <a:spcPts val="3000"/>
              </a:lnSpc>
              <a:buNone/>
            </a:pPr>
            <a:r>
              <a:rPr lang="en-US" sz="22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「今日もダメだった」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 / 43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6B74C4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なぜ続かないのか　｜　③ / 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続かないのは「意志」のせいじゃない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こんな経験、ありませんか？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194560"/>
            <a:ext cx="10911535" cy="2834640"/>
          </a:xfrm>
          <a:prstGeom prst="roundRect">
            <a:avLst>
              <a:gd name="adj" fmla="val 3871"/>
            </a:avLst>
          </a:prstGeom>
          <a:solidFill>
            <a:srgbClr val="ECEDFB"/>
          </a:solidFill>
          <a:ln/>
        </p:spPr>
      </p:sp>
      <p:sp>
        <p:nvSpPr>
          <p:cNvPr id="7" name="Shape 5"/>
          <p:cNvSpPr/>
          <p:nvPr/>
        </p:nvSpPr>
        <p:spPr>
          <a:xfrm>
            <a:off x="1097280" y="2514600"/>
            <a:ext cx="731520" cy="731520"/>
          </a:xfrm>
          <a:prstGeom prst="roundRect">
            <a:avLst>
              <a:gd name="adj" fmla="val 50000"/>
            </a:avLst>
          </a:prstGeom>
          <a:solidFill>
            <a:srgbClr val="6B74C4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2514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194560" y="2514600"/>
            <a:ext cx="8899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止まる＝失敗になっている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1371600" y="3474720"/>
            <a:ext cx="2905658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08760" y="3474720"/>
            <a:ext cx="263133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1日できない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277258" y="3474720"/>
            <a:ext cx="365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B74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4643018" y="3474720"/>
            <a:ext cx="2905658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80178" y="3474720"/>
            <a:ext cx="263133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「また続かなかった」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548677" y="3474720"/>
            <a:ext cx="365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B74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7914437" y="3474720"/>
            <a:ext cx="2905658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051597" y="3474720"/>
            <a:ext cx="263133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全部やめる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40080" y="5349240"/>
            <a:ext cx="10911535" cy="658368"/>
          </a:xfrm>
          <a:prstGeom prst="roundRect">
            <a:avLst>
              <a:gd name="adj" fmla="val 19444"/>
            </a:avLst>
          </a:prstGeom>
          <a:solidFill>
            <a:srgbClr val="FDEEE7"/>
          </a:solidFill>
          <a:ln/>
        </p:spPr>
      </p:sp>
      <p:sp>
        <p:nvSpPr>
          <p:cNvPr id="19" name="Text 17"/>
          <p:cNvSpPr/>
          <p:nvPr/>
        </p:nvSpPr>
        <p:spPr>
          <a:xfrm>
            <a:off x="960120" y="5349240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8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だから必要なのは、もっと頑張ることではありません。「戻り方」を知ること。</a:t>
            </a:r>
            <a:endParaRPr lang="en-US" sz="1850" dirty="0"/>
          </a:p>
        </p:txBody>
      </p:sp>
      <p:sp>
        <p:nvSpPr>
          <p:cNvPr id="20" name="Text 18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 / 43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CE9A2E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2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目標達成を遠ざける3つの思い込み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4114800" cy="841248"/>
          </a:xfrm>
          <a:prstGeom prst="roundRect">
            <a:avLst>
              <a:gd name="adj" fmla="val 13043"/>
            </a:avLst>
          </a:prstGeom>
          <a:solidFill>
            <a:srgbClr val="F3ECE3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783080"/>
            <a:ext cx="3566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7A99A"/>
                </a:solidFill>
              </a:rPr>
              <a:t>❌ 思い込み
</a:t>
            </a:r>
            <a:endParaRPr lang="en-US" sz="1250" dirty="0"/>
          </a:p>
          <a:p>
            <a:pPr indent="0" marL="0">
              <a:buNone/>
            </a:pPr>
            <a:r>
              <a:rPr lang="en-US" sz="1600" b="1" dirty="0">
                <a:solidFill>
                  <a:srgbClr val="8A7A6C"/>
                </a:solidFill>
              </a:rPr>
              <a:t>「続けられる人は、意志が強い」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754880" y="1783080"/>
            <a:ext cx="548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5303520" y="1783080"/>
            <a:ext cx="6248095" cy="841248"/>
          </a:xfrm>
          <a:prstGeom prst="roundRect">
            <a:avLst>
              <a:gd name="adj" fmla="val 13043"/>
            </a:avLst>
          </a:prstGeom>
          <a:solidFill>
            <a:srgbClr val="FDEEE7"/>
          </a:solidFill>
          <a:ln/>
        </p:spPr>
      </p:sp>
      <p:sp>
        <p:nvSpPr>
          <p:cNvPr id="8" name="Text 6"/>
          <p:cNvSpPr/>
          <p:nvPr/>
        </p:nvSpPr>
        <p:spPr>
          <a:xfrm>
            <a:off x="5577840" y="1783080"/>
            <a:ext cx="569945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F0876A"/>
                </a:solidFill>
              </a:rPr>
              <a:t>✅ 真実
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600" b="1" dirty="0">
                <a:solidFill>
                  <a:srgbClr val="DD6E4E"/>
                </a:solidFill>
              </a:rPr>
              <a:t>意志ではなく、続けやすい仕組みをつくる。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52344"/>
            <a:ext cx="4114800" cy="841248"/>
          </a:xfrm>
          <a:prstGeom prst="roundRect">
            <a:avLst>
              <a:gd name="adj" fmla="val 13043"/>
            </a:avLst>
          </a:prstGeom>
          <a:solidFill>
            <a:srgbClr val="F3ECE3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2752344"/>
            <a:ext cx="3566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7A99A"/>
                </a:solidFill>
              </a:rPr>
              <a:t>❌ 思い込み
</a:t>
            </a:r>
            <a:endParaRPr lang="en-US" sz="1250" dirty="0"/>
          </a:p>
          <a:p>
            <a:pPr indent="0" marL="0">
              <a:buNone/>
            </a:pPr>
            <a:r>
              <a:rPr lang="en-US" sz="1600" b="1" dirty="0">
                <a:solidFill>
                  <a:srgbClr val="8A7A6C"/>
                </a:solidFill>
              </a:rPr>
              <a:t>「私は続けられない人」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754880" y="2752344"/>
            <a:ext cx="548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2300" dirty="0"/>
          </a:p>
        </p:txBody>
      </p:sp>
      <p:sp>
        <p:nvSpPr>
          <p:cNvPr id="12" name="Shape 10"/>
          <p:cNvSpPr/>
          <p:nvPr/>
        </p:nvSpPr>
        <p:spPr>
          <a:xfrm>
            <a:off x="5303520" y="2752344"/>
            <a:ext cx="6248095" cy="841248"/>
          </a:xfrm>
          <a:prstGeom prst="roundRect">
            <a:avLst>
              <a:gd name="adj" fmla="val 13043"/>
            </a:avLst>
          </a:prstGeom>
          <a:solidFill>
            <a:srgbClr val="FDEEE7"/>
          </a:solidFill>
          <a:ln/>
        </p:spPr>
      </p:sp>
      <p:sp>
        <p:nvSpPr>
          <p:cNvPr id="13" name="Text 11"/>
          <p:cNvSpPr/>
          <p:nvPr/>
        </p:nvSpPr>
        <p:spPr>
          <a:xfrm>
            <a:off x="5577840" y="2752344"/>
            <a:ext cx="569945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F0876A"/>
                </a:solidFill>
              </a:rPr>
              <a:t>✅ 真実
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600" b="1" dirty="0">
                <a:solidFill>
                  <a:srgbClr val="DD6E4E"/>
                </a:solidFill>
              </a:rPr>
              <a:t>続かなかった方法が、あなたに合っていなかっただけかもしれない。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721608"/>
            <a:ext cx="4114800" cy="841248"/>
          </a:xfrm>
          <a:prstGeom prst="roundRect">
            <a:avLst>
              <a:gd name="adj" fmla="val 13043"/>
            </a:avLst>
          </a:prstGeom>
          <a:solidFill>
            <a:srgbClr val="F3ECE3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721608"/>
            <a:ext cx="3566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7A99A"/>
                </a:solidFill>
              </a:rPr>
              <a:t>❌ 思い込み
</a:t>
            </a:r>
            <a:endParaRPr lang="en-US" sz="1250" dirty="0"/>
          </a:p>
          <a:p>
            <a:pPr indent="0" marL="0">
              <a:buNone/>
            </a:pPr>
            <a:r>
              <a:rPr lang="en-US" sz="1600" b="1" dirty="0">
                <a:solidFill>
                  <a:srgbClr val="8A7A6C"/>
                </a:solidFill>
              </a:rPr>
              <a:t>「忙しいから今は無理」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754880" y="3721608"/>
            <a:ext cx="548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2300" dirty="0"/>
          </a:p>
        </p:txBody>
      </p:sp>
      <p:sp>
        <p:nvSpPr>
          <p:cNvPr id="17" name="Shape 15"/>
          <p:cNvSpPr/>
          <p:nvPr/>
        </p:nvSpPr>
        <p:spPr>
          <a:xfrm>
            <a:off x="5303520" y="3721608"/>
            <a:ext cx="6248095" cy="841248"/>
          </a:xfrm>
          <a:prstGeom prst="roundRect">
            <a:avLst>
              <a:gd name="adj" fmla="val 13043"/>
            </a:avLst>
          </a:prstGeom>
          <a:solidFill>
            <a:srgbClr val="FDEEE7"/>
          </a:solidFill>
          <a:ln/>
        </p:spPr>
      </p:sp>
      <p:sp>
        <p:nvSpPr>
          <p:cNvPr id="18" name="Text 16"/>
          <p:cNvSpPr/>
          <p:nvPr/>
        </p:nvSpPr>
        <p:spPr>
          <a:xfrm>
            <a:off x="5577840" y="3721608"/>
            <a:ext cx="569945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F0876A"/>
                </a:solidFill>
              </a:rPr>
              <a:t>✅ 真実
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600" b="1" dirty="0">
                <a:solidFill>
                  <a:srgbClr val="DD6E4E"/>
                </a:solidFill>
              </a:rPr>
              <a:t>時間ができるのを待つのではなく、今の生活に入る大きさにする。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40080" y="4736592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必要なのは「もっと頑張れる私」ではない。今の私でも進める方法をつくること。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 / 43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2F9188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2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目標にも「今持てる重さ」がある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いきなり100kgのバーベルを渡されて、「頑張って持って！」と言われても、持てません。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2423160"/>
            <a:ext cx="2590724" cy="1371600"/>
          </a:xfrm>
          <a:prstGeom prst="roundRect">
            <a:avLst>
              <a:gd name="adj" fmla="val 8000"/>
            </a:avLst>
          </a:prstGeom>
          <a:solidFill>
            <a:srgbClr val="F3ECE3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624328"/>
            <a:ext cx="25907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50" b="1" dirty="0">
                <a:solidFill>
                  <a:srgbClr val="C9BB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100kg</a:t>
            </a:r>
            <a:endParaRPr lang="en-US" sz="2750" dirty="0"/>
          </a:p>
        </p:txBody>
      </p:sp>
      <p:sp>
        <p:nvSpPr>
          <p:cNvPr id="7" name="Text 5"/>
          <p:cNvSpPr/>
          <p:nvPr/>
        </p:nvSpPr>
        <p:spPr>
          <a:xfrm>
            <a:off x="640080" y="3291840"/>
            <a:ext cx="25907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そのままでは持てない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413684" y="2423160"/>
            <a:ext cx="2590724" cy="1371600"/>
          </a:xfrm>
          <a:prstGeom prst="roundRect">
            <a:avLst>
              <a:gd name="adj" fmla="val 8000"/>
            </a:avLst>
          </a:prstGeom>
          <a:solidFill>
            <a:srgbClr val="E1F4F1"/>
          </a:solidFill>
          <a:ln/>
        </p:spPr>
      </p:sp>
      <p:sp>
        <p:nvSpPr>
          <p:cNvPr id="9" name="Text 7"/>
          <p:cNvSpPr/>
          <p:nvPr/>
        </p:nvSpPr>
        <p:spPr>
          <a:xfrm>
            <a:off x="3413684" y="2624328"/>
            <a:ext cx="25907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5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20kg</a:t>
            </a:r>
            <a:endParaRPr lang="en-US" sz="2750" dirty="0"/>
          </a:p>
        </p:txBody>
      </p:sp>
      <p:sp>
        <p:nvSpPr>
          <p:cNvPr id="10" name="Text 8"/>
          <p:cNvSpPr/>
          <p:nvPr/>
        </p:nvSpPr>
        <p:spPr>
          <a:xfrm>
            <a:off x="3413684" y="3291840"/>
            <a:ext cx="25907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なら？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187288" y="2423160"/>
            <a:ext cx="2590724" cy="1371600"/>
          </a:xfrm>
          <a:prstGeom prst="roundRect">
            <a:avLst>
              <a:gd name="adj" fmla="val 8000"/>
            </a:avLst>
          </a:prstGeom>
          <a:solidFill>
            <a:srgbClr val="E1F4F1"/>
          </a:solidFill>
          <a:ln/>
        </p:spPr>
      </p:sp>
      <p:sp>
        <p:nvSpPr>
          <p:cNvPr id="12" name="Text 10"/>
          <p:cNvSpPr/>
          <p:nvPr/>
        </p:nvSpPr>
        <p:spPr>
          <a:xfrm>
            <a:off x="6187288" y="2624328"/>
            <a:ext cx="25907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5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22.5kg</a:t>
            </a:r>
            <a:endParaRPr lang="en-US" sz="2750" dirty="0"/>
          </a:p>
        </p:txBody>
      </p:sp>
      <p:sp>
        <p:nvSpPr>
          <p:cNvPr id="13" name="Text 11"/>
          <p:cNvSpPr/>
          <p:nvPr/>
        </p:nvSpPr>
        <p:spPr>
          <a:xfrm>
            <a:off x="6187288" y="3291840"/>
            <a:ext cx="25907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なら？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960891" y="2423160"/>
            <a:ext cx="2590724" cy="1371600"/>
          </a:xfrm>
          <a:prstGeom prst="roundRect">
            <a:avLst>
              <a:gd name="adj" fmla="val 8000"/>
            </a:avLst>
          </a:prstGeom>
          <a:solidFill>
            <a:srgbClr val="FDEEE7"/>
          </a:solidFill>
          <a:ln/>
        </p:spPr>
      </p:sp>
      <p:sp>
        <p:nvSpPr>
          <p:cNvPr id="15" name="Text 13"/>
          <p:cNvSpPr/>
          <p:nvPr/>
        </p:nvSpPr>
        <p:spPr>
          <a:xfrm>
            <a:off x="8960891" y="2624328"/>
            <a:ext cx="25907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5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＋2.5kg</a:t>
            </a:r>
            <a:endParaRPr lang="en-US" sz="2750" dirty="0"/>
          </a:p>
        </p:txBody>
      </p:sp>
      <p:sp>
        <p:nvSpPr>
          <p:cNvPr id="16" name="Text 14"/>
          <p:cNvSpPr/>
          <p:nvPr/>
        </p:nvSpPr>
        <p:spPr>
          <a:xfrm>
            <a:off x="8960891" y="3291840"/>
            <a:ext cx="25907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昨日より、なら？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39776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目標も同じです。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40080" y="438912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rgbClr val="B7A99A"/>
                </a:solidFill>
              </a:rPr>
              <a:t>❌「できない私はダメ」</a:t>
            </a: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8A7A6C"/>
                </a:solidFill>
              </a:rPr>
              <a:t>ではなく、</a:t>
            </a: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50" b="1" dirty="0">
                <a:solidFill>
                  <a:srgbClr val="2F9188"/>
                </a:solidFill>
              </a:rPr>
              <a:t>✅「今の私には重すぎない？」と考える。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640080" y="5742432"/>
            <a:ext cx="10911535" cy="658368"/>
          </a:xfrm>
          <a:prstGeom prst="roundRect">
            <a:avLst>
              <a:gd name="adj" fmla="val 19444"/>
            </a:avLst>
          </a:prstGeom>
          <a:solidFill>
            <a:srgbClr val="FDEEE7"/>
          </a:solidFill>
          <a:ln/>
        </p:spPr>
      </p:sp>
      <p:sp>
        <p:nvSpPr>
          <p:cNvPr id="20" name="Text 18"/>
          <p:cNvSpPr/>
          <p:nvPr/>
        </p:nvSpPr>
        <p:spPr>
          <a:xfrm>
            <a:off x="960120" y="5742432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8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大きな目標はそのままでいい。今日持つ重さだけ、小さくする。</a:t>
            </a:r>
            <a:endParaRPr lang="en-US" sz="1850" dirty="0"/>
          </a:p>
        </p:txBody>
      </p:sp>
      <p:sp>
        <p:nvSpPr>
          <p:cNvPr id="21" name="Text 19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 / 43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2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「いつか」より、今日ひとつ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spcAft>
                <a:spcPts val="800"/>
              </a:spcAft>
              <a:buNone/>
            </a:pPr>
            <a:r>
              <a:rPr lang="en-US" sz="1600" dirty="0">
                <a:solidFill>
                  <a:srgbClr val="4A3B30"/>
                </a:solidFill>
              </a:rPr>
              <a:t>大きな目標を見ると、「時間ができたら」「もう少し余裕ができたら」「ちゃんと準備できたら」と思ってしまう。</a:t>
            </a:r>
            <a:endParaRPr lang="en-US" sz="1600" dirty="0"/>
          </a:p>
          <a:p>
            <a:pPr indent="0" marL="0">
              <a:lnSpc>
                <a:spcPts val="2100"/>
              </a:lnSpc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DD6E4E"/>
                </a:solidFill>
              </a:rPr>
              <a:t>でも、“いつか”は、なかなか始まらない。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69748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だから考えるのは、「今日の私なら、何ができる？」</a:t>
            </a:r>
            <a:endParaRPr lang="en-US" sz="1950" dirty="0"/>
          </a:p>
        </p:txBody>
      </p:sp>
      <p:sp>
        <p:nvSpPr>
          <p:cNvPr id="6" name="Shape 4"/>
          <p:cNvSpPr/>
          <p:nvPr/>
        </p:nvSpPr>
        <p:spPr>
          <a:xfrm>
            <a:off x="640080" y="3520440"/>
            <a:ext cx="1554480" cy="1280160"/>
          </a:xfrm>
          <a:prstGeom prst="roundRect">
            <a:avLst>
              <a:gd name="adj" fmla="val 8571"/>
            </a:avLst>
          </a:prstGeom>
          <a:solidFill>
            <a:srgbClr val="E1F4F1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3520440"/>
            <a:ext cx="1554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30分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221992" y="42976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850" dirty="0"/>
          </a:p>
        </p:txBody>
      </p:sp>
      <p:sp>
        <p:nvSpPr>
          <p:cNvPr id="9" name="Shape 7"/>
          <p:cNvSpPr/>
          <p:nvPr/>
        </p:nvSpPr>
        <p:spPr>
          <a:xfrm>
            <a:off x="2423160" y="3749040"/>
            <a:ext cx="1554480" cy="1051560"/>
          </a:xfrm>
          <a:prstGeom prst="roundRect">
            <a:avLst>
              <a:gd name="adj" fmla="val 10435"/>
            </a:avLst>
          </a:prstGeom>
          <a:solidFill>
            <a:srgbClr val="E1F4F1"/>
          </a:solidFill>
          <a:ln/>
        </p:spPr>
      </p:sp>
      <p:sp>
        <p:nvSpPr>
          <p:cNvPr id="10" name="Text 8"/>
          <p:cNvSpPr/>
          <p:nvPr/>
        </p:nvSpPr>
        <p:spPr>
          <a:xfrm>
            <a:off x="2423160" y="3749040"/>
            <a:ext cx="1554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10分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005072" y="42976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850" dirty="0"/>
          </a:p>
        </p:txBody>
      </p:sp>
      <p:sp>
        <p:nvSpPr>
          <p:cNvPr id="12" name="Shape 10"/>
          <p:cNvSpPr/>
          <p:nvPr/>
        </p:nvSpPr>
        <p:spPr>
          <a:xfrm>
            <a:off x="4206240" y="3977640"/>
            <a:ext cx="1554480" cy="822960"/>
          </a:xfrm>
          <a:prstGeom prst="roundRect">
            <a:avLst>
              <a:gd name="adj" fmla="val 13333"/>
            </a:avLst>
          </a:prstGeom>
          <a:solidFill>
            <a:srgbClr val="E1F4F1"/>
          </a:solidFill>
          <a:ln/>
        </p:spPr>
      </p:sp>
      <p:sp>
        <p:nvSpPr>
          <p:cNvPr id="13" name="Text 11"/>
          <p:cNvSpPr/>
          <p:nvPr/>
        </p:nvSpPr>
        <p:spPr>
          <a:xfrm>
            <a:off x="4206240" y="397764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3分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788152" y="42976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850" dirty="0"/>
          </a:p>
        </p:txBody>
      </p:sp>
      <p:sp>
        <p:nvSpPr>
          <p:cNvPr id="15" name="Shape 13"/>
          <p:cNvSpPr/>
          <p:nvPr/>
        </p:nvSpPr>
        <p:spPr>
          <a:xfrm>
            <a:off x="5989320" y="3429000"/>
            <a:ext cx="2286000" cy="1371600"/>
          </a:xfrm>
          <a:prstGeom prst="roundRect">
            <a:avLst>
              <a:gd name="adj" fmla="val 8000"/>
            </a:avLst>
          </a:prstGeom>
          <a:solidFill>
            <a:srgbClr val="FDEEE7"/>
          </a:solidFill>
          <a:ln/>
        </p:spPr>
      </p:sp>
      <p:sp>
        <p:nvSpPr>
          <p:cNvPr id="16" name="Text 14"/>
          <p:cNvSpPr/>
          <p:nvPr/>
        </p:nvSpPr>
        <p:spPr>
          <a:xfrm>
            <a:off x="5989320" y="342900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準備するだけ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40080" y="5257800"/>
            <a:ext cx="10911535" cy="658368"/>
          </a:xfrm>
          <a:prstGeom prst="roundRect">
            <a:avLst>
              <a:gd name="adj" fmla="val 19444"/>
            </a:avLst>
          </a:prstGeom>
          <a:solidFill>
            <a:srgbClr val="FDEEE7"/>
          </a:solidFill>
          <a:ln/>
        </p:spPr>
      </p:sp>
      <p:sp>
        <p:nvSpPr>
          <p:cNvPr id="18" name="Text 16"/>
          <p:cNvSpPr/>
          <p:nvPr/>
        </p:nvSpPr>
        <p:spPr>
          <a:xfrm>
            <a:off x="960120" y="5257800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8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小さくするのは、夢ではない。今日の一歩。</a:t>
            </a:r>
            <a:endParaRPr lang="en-US" sz="1850" dirty="0"/>
          </a:p>
        </p:txBody>
      </p:sp>
      <p:sp>
        <p:nvSpPr>
          <p:cNvPr id="19" name="Text 17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 / 43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　｜　STEP 1 / 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40080" y="1627632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たとえば「3ヶ月で−3kg」を目指すなら？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148840"/>
            <a:ext cx="10911535" cy="3611880"/>
          </a:xfrm>
          <a:prstGeom prst="roundRect">
            <a:avLst>
              <a:gd name="adj" fmla="val 3038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0" y="2514600"/>
            <a:ext cx="1554480" cy="502920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251460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 1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97280" y="3154680"/>
            <a:ext cx="99971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今の自分を知る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1097280" y="3931920"/>
            <a:ext cx="999713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仕事・生活・身体・食事。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「この生活の中で何ならできる？」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 / 43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　｜　STEP 2 / 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0911535" cy="3977640"/>
          </a:xfrm>
          <a:prstGeom prst="roundRect">
            <a:avLst>
              <a:gd name="adj" fmla="val 2759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7280" y="2148840"/>
            <a:ext cx="1554480" cy="502920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214884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 2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" y="2788920"/>
            <a:ext cx="99971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すでにある「できた」を見つける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097280" y="3566160"/>
            <a:ext cx="999713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朝食は食べられている。水分は取れている。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週末は歩いている。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0からのスタートではない。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 / 43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　｜　STEP 3 / 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0911535" cy="3977640"/>
          </a:xfrm>
          <a:prstGeom prst="roundRect">
            <a:avLst>
              <a:gd name="adj" fmla="val 2759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7280" y="2148840"/>
            <a:ext cx="1554480" cy="502920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214884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 3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" y="2788920"/>
            <a:ext cx="99971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本当に叶えたい未来を決める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097280" y="3566160"/>
            <a:ext cx="999713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−3kgの先にある、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「お気に入りの服を着て出かけたい」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まで考える。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 / 43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　｜　STEP 4 / 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0911535" cy="3977640"/>
          </a:xfrm>
          <a:prstGeom prst="roundRect">
            <a:avLst>
              <a:gd name="adj" fmla="val 2759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7280" y="2148840"/>
            <a:ext cx="1554480" cy="502920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214884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 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" y="2788920"/>
            <a:ext cx="99971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今日できる大きさまで分解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097280" y="3566160"/>
            <a:ext cx="999713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3ヶ月 → 1ヶ月 → 1週間 → 今日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大きな目標はそのまま。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今日の一歩だけ小さくする。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 / 43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　｜　STEP 5 / 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0911535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2057400"/>
            <a:ext cx="1554480" cy="502920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205740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 5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2743200" y="1783080"/>
            <a:ext cx="84426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身体・思考・習慣を見る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640080" y="31089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rgbClr val="4A3B30"/>
                </a:solidFill>
              </a:rPr>
              <a:t>夜、お菓子を食べた。</a:t>
            </a:r>
            <a:endParaRPr lang="en-US" sz="1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rgbClr val="B7A99A"/>
                </a:solidFill>
              </a:rPr>
              <a:t>❌「私って意志が弱い」ではなく、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640080" y="4069080"/>
            <a:ext cx="3454298" cy="1645920"/>
          </a:xfrm>
          <a:prstGeom prst="roundRect">
            <a:avLst>
              <a:gd name="adj" fmla="val 6667"/>
            </a:avLst>
          </a:prstGeom>
          <a:solidFill>
            <a:srgbClr val="FDEEE7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4343400"/>
            <a:ext cx="34542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40080" y="4983480"/>
            <a:ext cx="34542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疲れていた？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368698" y="4069080"/>
            <a:ext cx="3454298" cy="1645920"/>
          </a:xfrm>
          <a:prstGeom prst="roundRect">
            <a:avLst>
              <a:gd name="adj" fmla="val 6667"/>
            </a:avLst>
          </a:prstGeom>
          <a:solidFill>
            <a:srgbClr val="FFF3DA"/>
          </a:solidFill>
          <a:ln/>
        </p:spPr>
      </p:sp>
      <p:sp>
        <p:nvSpPr>
          <p:cNvPr id="14" name="Text 12"/>
          <p:cNvSpPr/>
          <p:nvPr/>
        </p:nvSpPr>
        <p:spPr>
          <a:xfrm>
            <a:off x="4368698" y="4343400"/>
            <a:ext cx="34542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E9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思考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368698" y="4983480"/>
            <a:ext cx="34542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我慢しすぎた？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8097317" y="4069080"/>
            <a:ext cx="3454298" cy="1645920"/>
          </a:xfrm>
          <a:prstGeom prst="roundRect">
            <a:avLst>
              <a:gd name="adj" fmla="val 6667"/>
            </a:avLst>
          </a:prstGeom>
          <a:solidFill>
            <a:srgbClr val="E1F4F1"/>
          </a:solidFill>
          <a:ln/>
        </p:spPr>
      </p:sp>
      <p:sp>
        <p:nvSpPr>
          <p:cNvPr id="17" name="Text 15"/>
          <p:cNvSpPr/>
          <p:nvPr/>
        </p:nvSpPr>
        <p:spPr>
          <a:xfrm>
            <a:off x="8097317" y="4343400"/>
            <a:ext cx="34542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習慣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097317" y="4983480"/>
            <a:ext cx="34542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昼食が少なかった？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 / 43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　｜　STEP 6 / 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0911535" cy="3977640"/>
          </a:xfrm>
          <a:prstGeom prst="roundRect">
            <a:avLst>
              <a:gd name="adj" fmla="val 2759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7280" y="2148840"/>
            <a:ext cx="1554480" cy="502920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214884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 6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" y="2788920"/>
            <a:ext cx="99971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「できた」を記録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097280" y="3566160"/>
            <a:ext cx="999713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10分歩けた。食事を調整できた。野菜を増やせた。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食べすぎても翌日戻れた。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結果が出る前の前進を、なかったことにしない。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16 / 43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　｜　STEP 7 / 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0911535" cy="3977640"/>
          </a:xfrm>
          <a:prstGeom prst="roundRect">
            <a:avLst>
              <a:gd name="adj" fmla="val 2759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7280" y="2148840"/>
            <a:ext cx="1554480" cy="502920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214884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 7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" y="2788920"/>
            <a:ext cx="99971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止まったら戻る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097280" y="3566160"/>
            <a:ext cx="999713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外食した。体重が増えた。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↓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❌「全部台無し！」ではなく、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「楽しかった。じゃあ今日から戻ろう。」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戻れたことも「できた」。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17 / 43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2F9188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大きな結果は、小さな「できた」の集合体　｜　CASE 1 / 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CASE1｜−8.6kg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640080" y="1536192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ダイエットサポートのお客様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103120"/>
            <a:ext cx="10911535" cy="3566160"/>
          </a:xfrm>
          <a:prstGeom prst="roundRect">
            <a:avLst>
              <a:gd name="adj" fmla="val 3077"/>
            </a:avLst>
          </a:prstGeom>
          <a:solidFill>
            <a:srgbClr val="E1F4F1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331720"/>
            <a:ext cx="1091153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−8.6kg</a:t>
            </a:r>
            <a:endParaRPr lang="en-US" sz="8800" dirty="0"/>
          </a:p>
        </p:txBody>
      </p:sp>
      <p:sp>
        <p:nvSpPr>
          <p:cNvPr id="8" name="Text 6"/>
          <p:cNvSpPr/>
          <p:nvPr/>
        </p:nvSpPr>
        <p:spPr>
          <a:xfrm>
            <a:off x="640080" y="4023360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達成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40080" y="46177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でも、変わったのは体重だけではありません。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18 / 43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2F9188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大きな結果は、小さな「できた」の集合体　｜　CASE 1 / 3・続き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4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でも、変わったのは体重だけではありません。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0911535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783080"/>
            <a:ext cx="502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554480" y="1783080"/>
            <a:ext cx="97228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階段を軽々登れるようになった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40080" y="2496312"/>
            <a:ext cx="10911535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496312"/>
            <a:ext cx="502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554480" y="2496312"/>
            <a:ext cx="97228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足が攣らなくなった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40080" y="3209544"/>
            <a:ext cx="10911535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3209544"/>
            <a:ext cx="502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554480" y="3209544"/>
            <a:ext cx="97228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躊躇していた水泳を始めた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40080" y="3922776"/>
            <a:ext cx="10911535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3922776"/>
            <a:ext cx="502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554480" y="3922776"/>
            <a:ext cx="97228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自分が満足できる食事量が分かった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640080" y="4636008"/>
            <a:ext cx="10911535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4636008"/>
            <a:ext cx="502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1554480" y="4636008"/>
            <a:ext cx="97228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「朝、身体が軽い！」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640080" y="5742432"/>
            <a:ext cx="10911535" cy="658368"/>
          </a:xfrm>
          <a:prstGeom prst="roundRect">
            <a:avLst>
              <a:gd name="adj" fmla="val 19444"/>
            </a:avLst>
          </a:prstGeom>
          <a:solidFill>
            <a:srgbClr val="FDEEE7"/>
          </a:solidFill>
          <a:ln/>
        </p:spPr>
      </p:sp>
      <p:sp>
        <p:nvSpPr>
          <p:cNvPr id="21" name="Text 19"/>
          <p:cNvSpPr/>
          <p:nvPr/>
        </p:nvSpPr>
        <p:spPr>
          <a:xfrm>
            <a:off x="960120" y="5742432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8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−8.6kgの中には、たくさんの「できた」がある。</a:t>
            </a:r>
            <a:endParaRPr lang="en-US" sz="1850" dirty="0"/>
          </a:p>
        </p:txBody>
      </p:sp>
      <p:sp>
        <p:nvSpPr>
          <p:cNvPr id="22" name="Text 20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 / 43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6B74C4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大きな結果は、小さな「できた」の集合体　｜　CASE 2 / 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CASE2｜「パソコンを開くだけ」から課題達成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最初の一歩は、「パソコンを開くだけ」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286000"/>
            <a:ext cx="2453564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286000"/>
            <a:ext cx="217924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開けた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093644" y="2286000"/>
            <a:ext cx="365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3459404" y="2286000"/>
            <a:ext cx="2453564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96564" y="2286000"/>
            <a:ext cx="217924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少し</a:t>
            </a:r>
            <a:endParaRPr lang="en-US" sz="2000" dirty="0"/>
          </a:p>
          <a:p>
            <a:pPr algn="ctr" indent="0" marL="0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取り組めた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912968" y="2286000"/>
            <a:ext cx="365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278728" y="2286000"/>
            <a:ext cx="2453564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15888" y="2286000"/>
            <a:ext cx="217924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また</a:t>
            </a:r>
            <a:endParaRPr lang="en-US" sz="2000" dirty="0"/>
          </a:p>
          <a:p>
            <a:pPr algn="ctr" indent="0" marL="0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取り組めた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732291" y="2286000"/>
            <a:ext cx="365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9098051" y="2286000"/>
            <a:ext cx="2453564" cy="2377440"/>
          </a:xfrm>
          <a:prstGeom prst="roundRect">
            <a:avLst>
              <a:gd name="adj" fmla="val 4615"/>
            </a:avLst>
          </a:prstGeom>
          <a:solidFill>
            <a:srgbClr val="ECEDFB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235211" y="2286000"/>
            <a:ext cx="217924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500"/>
              </a:lnSpc>
              <a:buNone/>
            </a:pPr>
            <a:r>
              <a:rPr lang="en-US" sz="1800" b="1" dirty="0">
                <a:solidFill>
                  <a:srgbClr val="6B74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1週間後までに</a:t>
            </a:r>
            <a:endParaRPr lang="en-US" sz="1800" dirty="0"/>
          </a:p>
          <a:p>
            <a:pPr algn="ctr" indent="0" marL="0">
              <a:lnSpc>
                <a:spcPts val="2500"/>
              </a:lnSpc>
              <a:buNone/>
            </a:pPr>
            <a:r>
              <a:rPr lang="en-US" sz="1800" b="1" dirty="0">
                <a:solidFill>
                  <a:srgbClr val="6B74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自分で決めた</a:t>
            </a:r>
            <a:endParaRPr lang="en-US" sz="1800" dirty="0"/>
          </a:p>
          <a:p>
            <a:pPr algn="ctr" indent="0" marL="0">
              <a:lnSpc>
                <a:spcPts val="2500"/>
              </a:lnSpc>
              <a:buNone/>
            </a:pPr>
            <a:r>
              <a:rPr lang="en-US" sz="1800" b="1" dirty="0">
                <a:solidFill>
                  <a:srgbClr val="6B74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課題をクリア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 / 43</a:t>
            </a:r>
            <a:endParaRPr lang="en-US" sz="11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6B74C4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大きな結果は、小さな「できた」の集合体　｜　CASE 2 / 3・続き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CASE2｜「パソコンを開くだけ」から課題達成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10911535" cy="2468880"/>
          </a:xfrm>
          <a:prstGeom prst="roundRect">
            <a:avLst>
              <a:gd name="adj" fmla="val 4444"/>
            </a:avLst>
          </a:prstGeom>
          <a:solidFill>
            <a:srgbClr val="ECEDFB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011680"/>
            <a:ext cx="9997135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rgbClr val="8A7A6C"/>
                </a:solidFill>
              </a:rPr>
              <a:t>さらに、</a:t>
            </a:r>
            <a:endParaRPr lang="en-US" sz="1700" dirty="0"/>
          </a:p>
          <a:p>
            <a:pPr algn="ctr" indent="0" marL="0">
              <a:spcAft>
                <a:spcPts val="1400"/>
              </a:spcAft>
              <a:buNone/>
            </a:pPr>
            <a:r>
              <a:rPr lang="en-US" sz="2500" b="1" dirty="0">
                <a:solidFill>
                  <a:srgbClr val="6B74C4"/>
                </a:solidFill>
              </a:rPr>
              <a:t>正しく立つ → 身体が安定 → 落ち着いて考えやすい</a:t>
            </a:r>
            <a:endParaRPr lang="en-US" sz="1700" dirty="0"/>
          </a:p>
          <a:p>
            <a:pPr algn="ctr" indent="0" marL="0">
              <a:spcAft>
                <a:spcPts val="1400"/>
              </a:spcAft>
              <a:buNone/>
            </a:pPr>
            <a:r>
              <a:rPr lang="en-US" sz="1800" dirty="0">
                <a:solidFill>
                  <a:srgbClr val="4A3B30"/>
                </a:solidFill>
              </a:rPr>
              <a:t>という感覚を体験。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40080" y="5742432"/>
            <a:ext cx="10911535" cy="658368"/>
          </a:xfrm>
          <a:prstGeom prst="roundRect">
            <a:avLst>
              <a:gd name="adj" fmla="val 19444"/>
            </a:avLst>
          </a:prstGeom>
          <a:solidFill>
            <a:srgbClr val="FDEEE7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5742432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8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身体・思考・習慣を一緒に整えることで、「動けない」が「できた」に変わった。</a:t>
            </a:r>
            <a:endParaRPr lang="en-US" sz="1850" dirty="0"/>
          </a:p>
        </p:txBody>
      </p:sp>
      <p:sp>
        <p:nvSpPr>
          <p:cNvPr id="9" name="Text 7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21 / 43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CE9A2E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大きな結果は、小さな「できた」の集合体　｜　CASE 3 / 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CASE3｜2.5kgの積み重ねが、日本記録へ</a:t>
            </a:r>
            <a:endParaRPr lang="en-US" sz="275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10911535" cy="1417320"/>
          </a:xfrm>
          <a:prstGeom prst="roundRect">
            <a:avLst>
              <a:gd name="adj" fmla="val 7742"/>
            </a:avLst>
          </a:prstGeom>
          <a:solidFill>
            <a:srgbClr val="FFF3DA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011680"/>
            <a:ext cx="1091153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A3B30"/>
                </a:solidFill>
              </a:rPr>
              <a:t>前回より、　</a:t>
            </a:r>
            <a:pPr algn="ctr" indent="0" marL="0">
              <a:buNone/>
            </a:pPr>
            <a:r>
              <a:rPr lang="en-US" sz="4400" b="1" dirty="0">
                <a:solidFill>
                  <a:srgbClr val="CE9A2E"/>
                </a:solidFill>
              </a:rPr>
              <a:t>＋2.5kg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794760"/>
            <a:ext cx="109115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3000"/>
              </a:lnSpc>
              <a:buNone/>
            </a:pPr>
            <a:r>
              <a:rPr lang="en-US" sz="200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今日も練習できた。フォームが少し良くなった。失敗の原因が分かった。</a:t>
            </a:r>
            <a:endParaRPr lang="en-US" sz="2000" dirty="0"/>
          </a:p>
          <a:p>
            <a:pPr algn="ctr" indent="0" marL="0">
              <a:lnSpc>
                <a:spcPts val="3000"/>
              </a:lnSpc>
              <a:buNone/>
            </a:pPr>
            <a:r>
              <a:rPr lang="en-US" sz="200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その積み重ねを11年以上。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22 / 43</a:t>
            </a:r>
            <a:endParaRPr lang="en-US" sz="11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CE9A2E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大きな結果は、小さな「できた」の集合体　｜　CASE 3 / 3・続き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CASE3｜2.5kgの積み重ねが、日本記録へ</a:t>
            </a:r>
            <a:endParaRPr lang="en-US" sz="275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5272888" cy="3429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15488" y="2286000"/>
            <a:ext cx="2468880" cy="3063240"/>
          </a:xfrm>
          <a:prstGeom prst="roundRect">
            <a:avLst>
              <a:gd name="adj" fmla="val 1111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pic>
        <p:nvPicPr>
          <p:cNvPr id="7" name="Image 0" descr="/home/user/dekitanokakera-LM/workshop/images/achievement-nantan-podiu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61208" y="2331720"/>
            <a:ext cx="2377440" cy="29718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05840" y="2423160"/>
            <a:ext cx="20267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全日本57kg級・52kg級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1005840" y="3337560"/>
            <a:ext cx="20267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CE9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日本一</a:t>
            </a:r>
            <a:endParaRPr lang="en-US" sz="2700" dirty="0"/>
          </a:p>
        </p:txBody>
      </p:sp>
      <p:sp>
        <p:nvSpPr>
          <p:cNvPr id="10" name="Shape 7"/>
          <p:cNvSpPr/>
          <p:nvPr/>
        </p:nvSpPr>
        <p:spPr>
          <a:xfrm>
            <a:off x="6278728" y="2103120"/>
            <a:ext cx="5272888" cy="3429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002725" y="2286000"/>
            <a:ext cx="2320290" cy="3063240"/>
          </a:xfrm>
          <a:prstGeom prst="roundRect">
            <a:avLst>
              <a:gd name="adj" fmla="val 1182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pic>
        <p:nvPicPr>
          <p:cNvPr id="12" name="Image 1" descr="/home/user/dekitanokakera-LM/workshop/images/achievement-squat-recor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8445" y="2331720"/>
            <a:ext cx="2228850" cy="29718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644488" y="2423160"/>
            <a:ext cx="21753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スクワット142.5kg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6644488" y="3337560"/>
            <a:ext cx="21753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CE9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日本記録</a:t>
            </a:r>
            <a:endParaRPr lang="en-US" sz="2700" dirty="0"/>
          </a:p>
        </p:txBody>
      </p:sp>
      <p:sp>
        <p:nvSpPr>
          <p:cNvPr id="15" name="Shape 11"/>
          <p:cNvSpPr/>
          <p:nvPr/>
        </p:nvSpPr>
        <p:spPr>
          <a:xfrm>
            <a:off x="640080" y="5742432"/>
            <a:ext cx="10911535" cy="658368"/>
          </a:xfrm>
          <a:prstGeom prst="roundRect">
            <a:avLst>
              <a:gd name="adj" fmla="val 19444"/>
            </a:avLst>
          </a:prstGeom>
          <a:solidFill>
            <a:srgbClr val="FDEEE7"/>
          </a:solidFill>
          <a:ln/>
        </p:spPr>
      </p:sp>
      <p:sp>
        <p:nvSpPr>
          <p:cNvPr id="16" name="Text 12"/>
          <p:cNvSpPr/>
          <p:nvPr/>
        </p:nvSpPr>
        <p:spPr>
          <a:xfrm>
            <a:off x="960120" y="5742432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8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大きな結果は、数えきれない「できた」の集合体。</a:t>
            </a:r>
            <a:endParaRPr lang="en-US" sz="1850" dirty="0"/>
          </a:p>
        </p:txBody>
      </p:sp>
      <p:sp>
        <p:nvSpPr>
          <p:cNvPr id="17" name="Text 13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23 / 43</a:t>
            </a:r>
            <a:endParaRPr lang="en-US" sz="11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WORK　｜　1 / 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今度は、あなたの番です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6002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5分で最初の「できたのかけら」をつくろう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103120"/>
            <a:ext cx="10911535" cy="2651760"/>
          </a:xfrm>
          <a:prstGeom prst="roundRect">
            <a:avLst>
              <a:gd name="adj" fmla="val 4138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0" y="3017520"/>
            <a:ext cx="822960" cy="822960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17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2286000" y="2103120"/>
            <a:ext cx="8808415" cy="14584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今、叶えたいことは？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2286000" y="4012387"/>
            <a:ext cx="8534095" cy="0"/>
          </a:xfrm>
          <a:prstGeom prst="line">
            <a:avLst/>
          </a:prstGeom>
          <a:noFill/>
          <a:ln w="25400">
            <a:solidFill>
              <a:srgbClr val="EFE2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24 / 43</a:t>
            </a:r>
            <a:endParaRPr lang="en-US" sz="11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WORK　｜　2 / 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今度は、あなたの番です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6002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5分で最初の「できたのかけら」をつくろう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103120"/>
            <a:ext cx="10911535" cy="2651760"/>
          </a:xfrm>
          <a:prstGeom prst="roundRect">
            <a:avLst>
              <a:gd name="adj" fmla="val 4138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0" y="3017520"/>
            <a:ext cx="822960" cy="822960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17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2286000" y="2103120"/>
            <a:ext cx="8808415" cy="14584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それを叶えたら、何が嬉しい？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2286000" y="4012387"/>
            <a:ext cx="8534095" cy="0"/>
          </a:xfrm>
          <a:prstGeom prst="line">
            <a:avLst/>
          </a:prstGeom>
          <a:noFill/>
          <a:ln w="25400">
            <a:solidFill>
              <a:srgbClr val="EFE2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 / 43</a:t>
            </a:r>
            <a:endParaRPr lang="en-US" sz="11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WORK　｜　3 / 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今度は、あなたの番です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6002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5分で最初の「できたのかけら」をつくろう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103120"/>
            <a:ext cx="10911535" cy="2651760"/>
          </a:xfrm>
          <a:prstGeom prst="roundRect">
            <a:avLst>
              <a:gd name="adj" fmla="val 4138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0" y="3017520"/>
            <a:ext cx="822960" cy="822960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17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2286000" y="2103120"/>
            <a:ext cx="8808415" cy="14584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すでにできていることは？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2286000" y="4012387"/>
            <a:ext cx="8534095" cy="0"/>
          </a:xfrm>
          <a:prstGeom prst="line">
            <a:avLst/>
          </a:prstGeom>
          <a:noFill/>
          <a:ln w="25400">
            <a:solidFill>
              <a:srgbClr val="EFE2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26 / 43</a:t>
            </a:r>
            <a:endParaRPr lang="en-US" sz="11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WORK　｜　4 / 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今度は、あなたの番です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6002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5分で最初の「できたのかけら」をつくろう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103120"/>
            <a:ext cx="10911535" cy="1874520"/>
          </a:xfrm>
          <a:prstGeom prst="roundRect">
            <a:avLst>
              <a:gd name="adj" fmla="val 5854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0" y="2628900"/>
            <a:ext cx="822960" cy="822960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26289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2286000" y="2103120"/>
            <a:ext cx="8808415" cy="103098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今日なら何ができる？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2286000" y="3452774"/>
            <a:ext cx="8534095" cy="0"/>
          </a:xfrm>
          <a:prstGeom prst="line">
            <a:avLst/>
          </a:prstGeom>
          <a:noFill/>
          <a:ln w="25400">
            <a:solidFill>
              <a:srgbClr val="EFE2D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4251960"/>
            <a:ext cx="10911535" cy="1691640"/>
          </a:xfrm>
          <a:prstGeom prst="roundRect">
            <a:avLst>
              <a:gd name="adj" fmla="val 6486"/>
            </a:avLst>
          </a:prstGeom>
          <a:solidFill>
            <a:srgbClr val="FDEEE7"/>
          </a:solidFill>
          <a:ln/>
        </p:spPr>
      </p:sp>
      <p:sp>
        <p:nvSpPr>
          <p:cNvPr id="12" name="Text 10"/>
          <p:cNvSpPr/>
          <p:nvPr/>
        </p:nvSpPr>
        <p:spPr>
          <a:xfrm>
            <a:off x="1005840" y="4251960"/>
            <a:ext cx="10180015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4A3B30"/>
                </a:solidFill>
              </a:rPr>
              <a:t>ポイントは、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DD6E4E"/>
                </a:solidFill>
              </a:rPr>
              <a:t>❌「頑張ればできる」ではなく、「これならできる」まで小さくすること。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4A3B30"/>
                </a:solidFill>
              </a:rPr>
              <a:t>そして今できるなら、やってみる。「できた！」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50" b="1" dirty="0">
                <a:solidFill>
                  <a:srgbClr val="DD6E4E"/>
                </a:solidFill>
              </a:rPr>
              <a:t>それが今日の、最初のできたのかけら。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27 / 43</a:t>
            </a:r>
            <a:endParaRPr lang="en-US" sz="11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6B74C4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2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「できた」を生む3つの土台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 × 思考 × 習慣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3484778" cy="2743200"/>
          </a:xfrm>
          <a:prstGeom prst="roundRect">
            <a:avLst>
              <a:gd name="adj" fmla="val 4000"/>
            </a:avLst>
          </a:prstGeom>
          <a:solidFill>
            <a:srgbClr val="FDEEE7"/>
          </a:solidFill>
          <a:ln/>
        </p:spPr>
      </p:sp>
      <p:sp>
        <p:nvSpPr>
          <p:cNvPr id="6" name="Shape 4"/>
          <p:cNvSpPr/>
          <p:nvPr/>
        </p:nvSpPr>
        <p:spPr>
          <a:xfrm>
            <a:off x="896112" y="2404872"/>
            <a:ext cx="438912" cy="438912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7" name="Text 5"/>
          <p:cNvSpPr/>
          <p:nvPr/>
        </p:nvSpPr>
        <p:spPr>
          <a:xfrm>
            <a:off x="896112" y="240487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96112" y="2971800"/>
            <a:ext cx="29727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5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896112" y="3429000"/>
            <a:ext cx="29727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「今の私」に戻る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96112" y="3931920"/>
            <a:ext cx="297271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正しく立つ。呼吸する。</a:t>
            </a:r>
            <a:endParaRPr lang="en-US" sz="14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ゆるめる。</a:t>
            </a:r>
            <a:endParaRPr lang="en-US" sz="14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自分の状態を感じる。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4353458" y="2148840"/>
            <a:ext cx="3484778" cy="2743200"/>
          </a:xfrm>
          <a:prstGeom prst="roundRect">
            <a:avLst>
              <a:gd name="adj" fmla="val 4000"/>
            </a:avLst>
          </a:prstGeom>
          <a:solidFill>
            <a:srgbClr val="FFF3DA"/>
          </a:solidFill>
          <a:ln/>
        </p:spPr>
      </p:sp>
      <p:sp>
        <p:nvSpPr>
          <p:cNvPr id="12" name="Shape 10"/>
          <p:cNvSpPr/>
          <p:nvPr/>
        </p:nvSpPr>
        <p:spPr>
          <a:xfrm>
            <a:off x="4609490" y="2404872"/>
            <a:ext cx="438912" cy="438912"/>
          </a:xfrm>
          <a:prstGeom prst="roundRect">
            <a:avLst>
              <a:gd name="adj" fmla="val 50000"/>
            </a:avLst>
          </a:prstGeom>
          <a:solidFill>
            <a:srgbClr val="CE9A2E"/>
          </a:solidFill>
          <a:ln/>
        </p:spPr>
      </p:sp>
      <p:sp>
        <p:nvSpPr>
          <p:cNvPr id="13" name="Text 11"/>
          <p:cNvSpPr/>
          <p:nvPr/>
        </p:nvSpPr>
        <p:spPr>
          <a:xfrm>
            <a:off x="4609490" y="240487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609490" y="2971800"/>
            <a:ext cx="29727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50" b="1" dirty="0">
                <a:solidFill>
                  <a:srgbClr val="CE9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思考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4609490" y="3429000"/>
            <a:ext cx="29727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「進む方向」を決める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609490" y="3931920"/>
            <a:ext cx="297271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何を叶えたい？</a:t>
            </a:r>
            <a:endParaRPr lang="en-US" sz="14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なぜ叶えたい？</a:t>
            </a:r>
            <a:endParaRPr lang="en-US" sz="14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今の私がやることは？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8066837" y="2148840"/>
            <a:ext cx="3484778" cy="2743200"/>
          </a:xfrm>
          <a:prstGeom prst="roundRect">
            <a:avLst>
              <a:gd name="adj" fmla="val 4000"/>
            </a:avLst>
          </a:prstGeom>
          <a:solidFill>
            <a:srgbClr val="E1F4F1"/>
          </a:solidFill>
          <a:ln/>
        </p:spPr>
      </p:sp>
      <p:sp>
        <p:nvSpPr>
          <p:cNvPr id="18" name="Shape 16"/>
          <p:cNvSpPr/>
          <p:nvPr/>
        </p:nvSpPr>
        <p:spPr>
          <a:xfrm>
            <a:off x="8322869" y="2404872"/>
            <a:ext cx="438912" cy="438912"/>
          </a:xfrm>
          <a:prstGeom prst="roundRect">
            <a:avLst>
              <a:gd name="adj" fmla="val 50000"/>
            </a:avLst>
          </a:prstGeom>
          <a:solidFill>
            <a:srgbClr val="2F9188"/>
          </a:solidFill>
          <a:ln/>
        </p:spPr>
      </p:sp>
      <p:sp>
        <p:nvSpPr>
          <p:cNvPr id="19" name="Text 17"/>
          <p:cNvSpPr/>
          <p:nvPr/>
        </p:nvSpPr>
        <p:spPr>
          <a:xfrm>
            <a:off x="8322869" y="240487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322869" y="2971800"/>
            <a:ext cx="29727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5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習慣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8322869" y="3429000"/>
            <a:ext cx="29727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「また戻れる」をつくる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322869" y="3931920"/>
            <a:ext cx="297271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いつやる？どれくらいやる？</a:t>
            </a:r>
            <a:endParaRPr lang="en-US" sz="14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できない日は？</a:t>
            </a:r>
            <a:endParaRPr lang="en-US" sz="14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止まったらどう戻る？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640080" y="5742432"/>
            <a:ext cx="10911535" cy="658368"/>
          </a:xfrm>
          <a:prstGeom prst="roundRect">
            <a:avLst>
              <a:gd name="adj" fmla="val 19444"/>
            </a:avLst>
          </a:prstGeom>
          <a:solidFill>
            <a:srgbClr val="FDEEE7"/>
          </a:solidFill>
          <a:ln/>
        </p:spPr>
      </p:sp>
      <p:sp>
        <p:nvSpPr>
          <p:cNvPr id="24" name="Text 22"/>
          <p:cNvSpPr/>
          <p:nvPr/>
        </p:nvSpPr>
        <p:spPr>
          <a:xfrm>
            <a:off x="960120" y="5742432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8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そして真ん中に、「できたのかけら」。頑張って動くのではなく、動ける私を整える。</a:t>
            </a:r>
            <a:endParaRPr lang="en-US" sz="1850" dirty="0"/>
          </a:p>
        </p:txBody>
      </p:sp>
      <p:sp>
        <p:nvSpPr>
          <p:cNvPr id="25" name="Text 23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28 / 43</a:t>
            </a:r>
            <a:endParaRPr lang="en-US" sz="11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90日後、手に入るのは「戻れる私」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90日間で目指すのは、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212080" cy="1005840"/>
          </a:xfrm>
          <a:prstGeom prst="roundRect">
            <a:avLst>
              <a:gd name="adj" fmla="val 10909"/>
            </a:avLst>
          </a:prstGeom>
          <a:solidFill>
            <a:srgbClr val="F3ECE3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14884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dirty="0">
                <a:solidFill>
                  <a:srgbClr val="B7A99A"/>
                </a:solidFill>
              </a:rPr>
              <a:t>❌ </a:t>
            </a:r>
            <a:pPr indent="0" marL="0">
              <a:buNone/>
            </a:pPr>
            <a:r>
              <a:rPr lang="en-US" sz="1850" b="1" dirty="0">
                <a:solidFill>
                  <a:srgbClr val="8A7A6C"/>
                </a:solidFill>
              </a:rPr>
              <a:t>一度も止まらない私</a:t>
            </a:r>
            <a:endParaRPr lang="en-US" sz="1850" dirty="0"/>
          </a:p>
          <a:p>
            <a:pPr indent="0" marL="0">
              <a:buNone/>
            </a:pPr>
            <a:r>
              <a:rPr lang="en-US" sz="1500" dirty="0">
                <a:solidFill>
                  <a:srgbClr val="B7A99A"/>
                </a:solidFill>
              </a:rPr>
              <a:t>ではありません。</a:t>
            </a:r>
            <a:endParaRPr lang="en-US" sz="1850" dirty="0"/>
          </a:p>
        </p:txBody>
      </p:sp>
      <p:sp>
        <p:nvSpPr>
          <p:cNvPr id="7" name="Text 5"/>
          <p:cNvSpPr/>
          <p:nvPr/>
        </p:nvSpPr>
        <p:spPr>
          <a:xfrm>
            <a:off x="5897880" y="2148840"/>
            <a:ext cx="457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6400800" y="2148840"/>
            <a:ext cx="5150815" cy="1005840"/>
          </a:xfrm>
          <a:prstGeom prst="roundRect">
            <a:avLst>
              <a:gd name="adj" fmla="val 10909"/>
            </a:avLst>
          </a:prstGeom>
          <a:solidFill>
            <a:srgbClr val="FDEEE7"/>
          </a:solidFill>
          <a:ln/>
        </p:spPr>
      </p:sp>
      <p:sp>
        <p:nvSpPr>
          <p:cNvPr id="9" name="Text 7"/>
          <p:cNvSpPr/>
          <p:nvPr/>
        </p:nvSpPr>
        <p:spPr>
          <a:xfrm>
            <a:off x="6720840" y="2148840"/>
            <a:ext cx="451073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DD6E4E"/>
                </a:solidFill>
              </a:rPr>
              <a:t>✅ 止まっても、</a:t>
            </a:r>
            <a:endParaRPr lang="en-US" sz="1850" dirty="0"/>
          </a:p>
          <a:p>
            <a:pPr indent="0" marL="0">
              <a:buNone/>
            </a:pPr>
            <a:r>
              <a:rPr lang="en-US" sz="1850" b="1" dirty="0">
                <a:solidFill>
                  <a:srgbClr val="DD6E4E"/>
                </a:solidFill>
              </a:rPr>
              <a:t>自分で戻れる私。</a:t>
            </a:r>
            <a:endParaRPr lang="en-US" sz="1850" dirty="0"/>
          </a:p>
        </p:txBody>
      </p:sp>
      <p:sp>
        <p:nvSpPr>
          <p:cNvPr id="10" name="Shape 8"/>
          <p:cNvSpPr/>
          <p:nvPr/>
        </p:nvSpPr>
        <p:spPr>
          <a:xfrm>
            <a:off x="640080" y="3520440"/>
            <a:ext cx="10911535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3520440"/>
            <a:ext cx="1091153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rgbClr val="4A3B30"/>
                </a:solidFill>
              </a:rPr>
              <a:t>もし1日1つ、「できた」を見つけたら、</a:t>
            </a:r>
            <a:endParaRPr lang="en-US" sz="17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4600" b="1" dirty="0">
                <a:solidFill>
                  <a:srgbClr val="F0876A"/>
                </a:solidFill>
              </a:rPr>
              <a:t>1日 × 90日 ＝ 90個</a:t>
            </a:r>
            <a:endParaRPr lang="en-US" sz="17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rgbClr val="4A3B30"/>
                </a:solidFill>
              </a:rPr>
              <a:t>の「できた」の証拠。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29 / 43</a:t>
            </a:r>
            <a:endParaRPr lang="en-US" sz="11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8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「戻れる私」になると、口ぐせが変わる</a:t>
            </a:r>
            <a:endParaRPr lang="en-US" sz="285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181448" cy="4206240"/>
          </a:xfrm>
          <a:prstGeom prst="roundRect">
            <a:avLst>
              <a:gd name="adj" fmla="val 2609"/>
            </a:avLst>
          </a:prstGeom>
          <a:solidFill>
            <a:srgbClr val="F3ECE3"/>
          </a:solidFill>
          <a:ln/>
        </p:spPr>
      </p:sp>
      <p:sp>
        <p:nvSpPr>
          <p:cNvPr id="5" name="Shape 3"/>
          <p:cNvSpPr/>
          <p:nvPr/>
        </p:nvSpPr>
        <p:spPr>
          <a:xfrm>
            <a:off x="960120" y="2057400"/>
            <a:ext cx="1463040" cy="402336"/>
          </a:xfrm>
          <a:prstGeom prst="roundRect">
            <a:avLst>
              <a:gd name="adj" fmla="val 50000"/>
            </a:avLst>
          </a:prstGeom>
          <a:solidFill>
            <a:srgbClr val="B7A99A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057400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BEFORE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60120" y="2697480"/>
            <a:ext cx="4541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「またできなかった」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60120" y="3355848"/>
            <a:ext cx="4541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「私は続かない」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60120" y="4014216"/>
            <a:ext cx="4541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「何からやればいい？」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960120" y="4672584"/>
            <a:ext cx="4541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「また失敗したらどうしよう」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370168" y="1783080"/>
            <a:ext cx="5181448" cy="4206240"/>
          </a:xfrm>
          <a:prstGeom prst="roundRect">
            <a:avLst>
              <a:gd name="adj" fmla="val 2609"/>
            </a:avLst>
          </a:prstGeom>
          <a:solidFill>
            <a:srgbClr val="FDEEE7"/>
          </a:solidFill>
          <a:ln/>
        </p:spPr>
      </p:sp>
      <p:sp>
        <p:nvSpPr>
          <p:cNvPr id="12" name="Shape 10"/>
          <p:cNvSpPr/>
          <p:nvPr/>
        </p:nvSpPr>
        <p:spPr>
          <a:xfrm>
            <a:off x="6690208" y="2057400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13" name="Text 11"/>
          <p:cNvSpPr/>
          <p:nvPr/>
        </p:nvSpPr>
        <p:spPr>
          <a:xfrm>
            <a:off x="6690208" y="2057400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AFTER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690208" y="2697480"/>
            <a:ext cx="4541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「今日はここまでできた」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690208" y="3227832"/>
            <a:ext cx="4541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「今回は何があった？」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690208" y="3758184"/>
            <a:ext cx="4541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「じゃあ次はどうする？」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690208" y="4288536"/>
            <a:ext cx="4541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「今の私はこれをやろう」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690208" y="4818888"/>
            <a:ext cx="4541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「大丈夫。私はまた戻れる。」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5821528" y="338328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50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2750" dirty="0"/>
          </a:p>
        </p:txBody>
      </p:sp>
      <p:sp>
        <p:nvSpPr>
          <p:cNvPr id="20" name="Text 18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 / 43</a:t>
            </a:r>
            <a:endParaRPr lang="en-US" sz="11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「戻れる私」をつくる3つの柱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188720"/>
            <a:ext cx="1417320" cy="457200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8872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1ヶ月目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240280" y="1115568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640080" y="18288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85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動ける土台をつくる</a:t>
            </a:r>
            <a:endParaRPr lang="en-US" sz="1850" dirty="0"/>
          </a:p>
        </p:txBody>
      </p:sp>
      <p:sp>
        <p:nvSpPr>
          <p:cNvPr id="8" name="Shape 6"/>
          <p:cNvSpPr/>
          <p:nvPr/>
        </p:nvSpPr>
        <p:spPr>
          <a:xfrm>
            <a:off x="640080" y="2423160"/>
            <a:ext cx="2036003" cy="2011680"/>
          </a:xfrm>
          <a:prstGeom prst="roundRect">
            <a:avLst>
              <a:gd name="adj" fmla="val 5455"/>
            </a:avLst>
          </a:prstGeom>
          <a:solidFill>
            <a:srgbClr val="FDEEE7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2423160"/>
            <a:ext cx="1816547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6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正しく立つ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2858963" y="2423160"/>
            <a:ext cx="2036003" cy="2011680"/>
          </a:xfrm>
          <a:prstGeom prst="roundRect">
            <a:avLst>
              <a:gd name="adj" fmla="val 5455"/>
            </a:avLst>
          </a:prstGeom>
          <a:solidFill>
            <a:srgbClr val="FDEEE7"/>
          </a:solidFill>
          <a:ln/>
        </p:spPr>
      </p:sp>
      <p:sp>
        <p:nvSpPr>
          <p:cNvPr id="11" name="Text 9"/>
          <p:cNvSpPr/>
          <p:nvPr/>
        </p:nvSpPr>
        <p:spPr>
          <a:xfrm>
            <a:off x="2968691" y="2423160"/>
            <a:ext cx="1816547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6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呼吸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5077846" y="2423160"/>
            <a:ext cx="2036003" cy="2011680"/>
          </a:xfrm>
          <a:prstGeom prst="roundRect">
            <a:avLst>
              <a:gd name="adj" fmla="val 5455"/>
            </a:avLst>
          </a:prstGeom>
          <a:solidFill>
            <a:srgbClr val="FDEEE7"/>
          </a:solidFill>
          <a:ln/>
        </p:spPr>
      </p:sp>
      <p:sp>
        <p:nvSpPr>
          <p:cNvPr id="13" name="Text 11"/>
          <p:cNvSpPr/>
          <p:nvPr/>
        </p:nvSpPr>
        <p:spPr>
          <a:xfrm>
            <a:off x="5187574" y="2423160"/>
            <a:ext cx="1816547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6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ゆるめる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7296729" y="2423160"/>
            <a:ext cx="2036003" cy="2011680"/>
          </a:xfrm>
          <a:prstGeom prst="roundRect">
            <a:avLst>
              <a:gd name="adj" fmla="val 5455"/>
            </a:avLst>
          </a:prstGeom>
          <a:solidFill>
            <a:srgbClr val="FDEEE7"/>
          </a:solidFill>
          <a:ln/>
        </p:spPr>
      </p:sp>
      <p:sp>
        <p:nvSpPr>
          <p:cNvPr id="15" name="Text 13"/>
          <p:cNvSpPr/>
          <p:nvPr/>
        </p:nvSpPr>
        <p:spPr>
          <a:xfrm>
            <a:off x="7406457" y="2423160"/>
            <a:ext cx="1816547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6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スクワット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9515612" y="2423160"/>
            <a:ext cx="2036003" cy="2011680"/>
          </a:xfrm>
          <a:prstGeom prst="roundRect">
            <a:avLst>
              <a:gd name="adj" fmla="val 5455"/>
            </a:avLst>
          </a:prstGeom>
          <a:solidFill>
            <a:srgbClr val="FDEEE7"/>
          </a:solidFill>
          <a:ln/>
        </p:spPr>
      </p:sp>
      <p:sp>
        <p:nvSpPr>
          <p:cNvPr id="17" name="Text 15"/>
          <p:cNvSpPr/>
          <p:nvPr/>
        </p:nvSpPr>
        <p:spPr>
          <a:xfrm>
            <a:off x="9625340" y="2423160"/>
            <a:ext cx="1816547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6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自分の状態を感じる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640080" y="5742432"/>
            <a:ext cx="10911535" cy="658368"/>
          </a:xfrm>
          <a:prstGeom prst="roundRect">
            <a:avLst>
              <a:gd name="adj" fmla="val 19444"/>
            </a:avLst>
          </a:prstGeom>
          <a:solidFill>
            <a:srgbClr val="FDEEE7"/>
          </a:solidFill>
          <a:ln/>
        </p:spPr>
      </p:sp>
      <p:sp>
        <p:nvSpPr>
          <p:cNvPr id="19" name="Text 17"/>
          <p:cNvSpPr/>
          <p:nvPr/>
        </p:nvSpPr>
        <p:spPr>
          <a:xfrm>
            <a:off x="960120" y="5742432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8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身体から最初の「できた」をつくる</a:t>
            </a:r>
            <a:endParaRPr lang="en-US" sz="1850" dirty="0"/>
          </a:p>
        </p:txBody>
      </p:sp>
      <p:sp>
        <p:nvSpPr>
          <p:cNvPr id="20" name="Text 18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31 / 43</a:t>
            </a:r>
            <a:endParaRPr lang="en-US" sz="11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CE9A2E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「戻れる私」をつくる3つの柱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188720"/>
            <a:ext cx="1417320" cy="457200"/>
          </a:xfrm>
          <a:prstGeom prst="roundRect">
            <a:avLst>
              <a:gd name="adj" fmla="val 50000"/>
            </a:avLst>
          </a:prstGeom>
          <a:solidFill>
            <a:srgbClr val="CE9A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8872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2ヶ月目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240280" y="1115568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思考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640080" y="18288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850" b="1" dirty="0">
                <a:solidFill>
                  <a:srgbClr val="CE9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「今日はこれ」を決める</a:t>
            </a:r>
            <a:endParaRPr lang="en-US" sz="1850" dirty="0"/>
          </a:p>
        </p:txBody>
      </p:sp>
      <p:sp>
        <p:nvSpPr>
          <p:cNvPr id="8" name="Shape 6"/>
          <p:cNvSpPr/>
          <p:nvPr/>
        </p:nvSpPr>
        <p:spPr>
          <a:xfrm>
            <a:off x="640080" y="2423160"/>
            <a:ext cx="2036003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423160"/>
            <a:ext cx="203600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目的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2858963" y="2423160"/>
            <a:ext cx="2036003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858963" y="2423160"/>
            <a:ext cx="203600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3ヶ月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5077846" y="2423160"/>
            <a:ext cx="2036003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77846" y="2423160"/>
            <a:ext cx="203600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1ヶ月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296729" y="2423160"/>
            <a:ext cx="2036003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96729" y="2423160"/>
            <a:ext cx="203600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1週間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9515612" y="2423160"/>
            <a:ext cx="2036003" cy="1005840"/>
          </a:xfrm>
          <a:prstGeom prst="roundRect">
            <a:avLst>
              <a:gd name="adj" fmla="val 10909"/>
            </a:avLst>
          </a:prstGeom>
          <a:solidFill>
            <a:srgbClr val="FFF3D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515612" y="2423160"/>
            <a:ext cx="203600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CE9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40080" y="37947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850" b="1" dirty="0">
                <a:solidFill>
                  <a:srgbClr val="4A3B30"/>
                </a:solidFill>
              </a:rPr>
              <a:t>自分で決める。やってみる。できた。</a:t>
            </a:r>
            <a:endParaRPr lang="en-US" sz="18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rgbClr val="8A7A6C"/>
                </a:solidFill>
              </a:rPr>
              <a:t>「私は自分の判断を信用していい」へ。</a:t>
            </a:r>
            <a:endParaRPr lang="en-US" sz="1850" dirty="0"/>
          </a:p>
        </p:txBody>
      </p:sp>
      <p:sp>
        <p:nvSpPr>
          <p:cNvPr id="19" name="Shape 17"/>
          <p:cNvSpPr/>
          <p:nvPr/>
        </p:nvSpPr>
        <p:spPr>
          <a:xfrm>
            <a:off x="640080" y="5742432"/>
            <a:ext cx="10911535" cy="658368"/>
          </a:xfrm>
          <a:prstGeom prst="roundRect">
            <a:avLst>
              <a:gd name="adj" fmla="val 19444"/>
            </a:avLst>
          </a:prstGeom>
          <a:solidFill>
            <a:srgbClr val="FDEEE7"/>
          </a:solidFill>
          <a:ln/>
        </p:spPr>
      </p:sp>
      <p:sp>
        <p:nvSpPr>
          <p:cNvPr id="20" name="Text 18"/>
          <p:cNvSpPr/>
          <p:nvPr/>
        </p:nvSpPr>
        <p:spPr>
          <a:xfrm>
            <a:off x="960120" y="5742432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8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自分で決めて、やってみる経験を積み重ねる</a:t>
            </a:r>
            <a:endParaRPr lang="en-US" sz="1850" dirty="0"/>
          </a:p>
        </p:txBody>
      </p:sp>
      <p:sp>
        <p:nvSpPr>
          <p:cNvPr id="21" name="Text 19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32 / 43</a:t>
            </a:r>
            <a:endParaRPr lang="en-US" sz="11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2F9188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「戻れる私」をつくる3つの柱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188720"/>
            <a:ext cx="1417320" cy="457200"/>
          </a:xfrm>
          <a:prstGeom prst="roundRect">
            <a:avLst>
              <a:gd name="adj" fmla="val 50000"/>
            </a:avLst>
          </a:prstGeom>
          <a:solidFill>
            <a:srgbClr val="2F918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8872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3ヶ月目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240280" y="1115568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習慣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640080" y="18288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85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戻る仕組みをつくる</a:t>
            </a:r>
            <a:endParaRPr lang="en-US" sz="1850" dirty="0"/>
          </a:p>
        </p:txBody>
      </p:sp>
      <p:sp>
        <p:nvSpPr>
          <p:cNvPr id="8" name="Shape 6"/>
          <p:cNvSpPr/>
          <p:nvPr/>
        </p:nvSpPr>
        <p:spPr>
          <a:xfrm>
            <a:off x="640080" y="2423160"/>
            <a:ext cx="2590724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423160"/>
            <a:ext cx="24078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なぜ止まった？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413684" y="2423160"/>
            <a:ext cx="2590724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05124" y="2423160"/>
            <a:ext cx="24078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何を変える？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187288" y="2423160"/>
            <a:ext cx="2590724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78728" y="2423160"/>
            <a:ext cx="24078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次はどうする？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960891" y="2423160"/>
            <a:ext cx="2590724" cy="1005840"/>
          </a:xfrm>
          <a:prstGeom prst="roundRect">
            <a:avLst>
              <a:gd name="adj" fmla="val 10909"/>
            </a:avLst>
          </a:prstGeom>
          <a:solidFill>
            <a:srgbClr val="E1F4F1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052331" y="2423160"/>
            <a:ext cx="24078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また戻る。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0080" y="379476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身体で戻る。思考で決める。習慣でまた戻る。</a:t>
            </a:r>
            <a:endParaRPr lang="en-US" sz="1850" dirty="0"/>
          </a:p>
        </p:txBody>
      </p:sp>
      <p:sp>
        <p:nvSpPr>
          <p:cNvPr id="17" name="Shape 15"/>
          <p:cNvSpPr/>
          <p:nvPr/>
        </p:nvSpPr>
        <p:spPr>
          <a:xfrm>
            <a:off x="640080" y="5742432"/>
            <a:ext cx="10911535" cy="658368"/>
          </a:xfrm>
          <a:prstGeom prst="roundRect">
            <a:avLst>
              <a:gd name="adj" fmla="val 19444"/>
            </a:avLst>
          </a:prstGeom>
          <a:solidFill>
            <a:srgbClr val="FDEEE7"/>
          </a:solidFill>
          <a:ln/>
        </p:spPr>
      </p:sp>
      <p:sp>
        <p:nvSpPr>
          <p:cNvPr id="18" name="Text 16"/>
          <p:cNvSpPr/>
          <p:nvPr/>
        </p:nvSpPr>
        <p:spPr>
          <a:xfrm>
            <a:off x="960120" y="5742432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8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そのすべてをつなぐのが、「できたのかけら」</a:t>
            </a:r>
            <a:endParaRPr lang="en-US" sz="1850" dirty="0"/>
          </a:p>
        </p:txBody>
      </p:sp>
      <p:sp>
        <p:nvSpPr>
          <p:cNvPr id="19" name="Text 17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33 / 43</a:t>
            </a:r>
            <a:endParaRPr lang="en-US" sz="11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90日間、一人で頑張らなくていい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48132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できたのかけらメソッド ― 小さな「できた」から、自分を信じて目標を叶える90日間 ―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3484778" cy="1965960"/>
          </a:xfrm>
          <a:prstGeom prst="roundRect">
            <a:avLst>
              <a:gd name="adj" fmla="val 5581"/>
            </a:avLst>
          </a:prstGeom>
          <a:solidFill>
            <a:srgbClr val="FDEEE7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194560"/>
            <a:ext cx="3027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1ヶ月目｜身体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68680" y="2697480"/>
            <a:ext cx="30275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Lesson 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68680" y="2916936"/>
            <a:ext cx="3027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4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身体の現在地を知る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868680" y="3337560"/>
            <a:ext cx="30275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Lesson 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68680" y="3557016"/>
            <a:ext cx="3027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4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身体から「できた」をつくる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4353458" y="2011680"/>
            <a:ext cx="3484778" cy="1965960"/>
          </a:xfrm>
          <a:prstGeom prst="roundRect">
            <a:avLst>
              <a:gd name="adj" fmla="val 5581"/>
            </a:avLst>
          </a:prstGeom>
          <a:solidFill>
            <a:srgbClr val="FFF3DA"/>
          </a:solidFill>
          <a:ln/>
        </p:spPr>
      </p:sp>
      <p:sp>
        <p:nvSpPr>
          <p:cNvPr id="12" name="Text 10"/>
          <p:cNvSpPr/>
          <p:nvPr/>
        </p:nvSpPr>
        <p:spPr>
          <a:xfrm>
            <a:off x="4582058" y="2194560"/>
            <a:ext cx="3027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E9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2ヶ月目｜思考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582058" y="2697480"/>
            <a:ext cx="30275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E9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Lesson 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82058" y="2916936"/>
            <a:ext cx="3027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4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本当に叶えたい目標を決める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582058" y="3337560"/>
            <a:ext cx="30275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E9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Lesson 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82058" y="3557016"/>
            <a:ext cx="3027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4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目標を「今日の一歩」まで小さくする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8066837" y="2011680"/>
            <a:ext cx="3484778" cy="1965960"/>
          </a:xfrm>
          <a:prstGeom prst="roundRect">
            <a:avLst>
              <a:gd name="adj" fmla="val 5581"/>
            </a:avLst>
          </a:prstGeom>
          <a:solidFill>
            <a:srgbClr val="E1F4F1"/>
          </a:solidFill>
          <a:ln/>
        </p:spPr>
      </p:sp>
      <p:sp>
        <p:nvSpPr>
          <p:cNvPr id="18" name="Text 16"/>
          <p:cNvSpPr/>
          <p:nvPr/>
        </p:nvSpPr>
        <p:spPr>
          <a:xfrm>
            <a:off x="8295437" y="2194560"/>
            <a:ext cx="3027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3ヶ月目｜習慣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295437" y="2697480"/>
            <a:ext cx="30275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Lesson 5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5437" y="2916936"/>
            <a:ext cx="3027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4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私の「止まるパターン」を知る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295437" y="3337560"/>
            <a:ext cx="30275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Lesson 6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295437" y="3557016"/>
            <a:ext cx="3027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4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「またできる」私の取扱説明書をつくる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640080" y="416052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グループ講義　月2回 × 3ヶ月 ＝ 全6回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40080" y="4617720"/>
            <a:ext cx="10911535" cy="1234440"/>
          </a:xfrm>
          <a:prstGeom prst="roundRect">
            <a:avLst>
              <a:gd name="adj" fmla="val 8889"/>
            </a:avLst>
          </a:prstGeom>
          <a:solidFill>
            <a:srgbClr val="FDEEE7"/>
          </a:solidFill>
          <a:ln/>
        </p:spPr>
      </p:sp>
      <p:sp>
        <p:nvSpPr>
          <p:cNvPr id="25" name="Text 23"/>
          <p:cNvSpPr/>
          <p:nvPr/>
        </p:nvSpPr>
        <p:spPr>
          <a:xfrm>
            <a:off x="1005840" y="4617720"/>
            <a:ext cx="1018001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DD6E4E"/>
                </a:solidFill>
              </a:rPr>
              <a:t>でも主役は、講義と講義の間にある日常。</a:t>
            </a: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4A3B30"/>
                </a:solidFill>
              </a:rPr>
              <a:t>学ぶ → やる → 止まる → 相談する → 変える → 戻る</a:t>
            </a: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50" dirty="0">
                <a:solidFill>
                  <a:srgbClr val="8A7A6C"/>
                </a:solidFill>
              </a:rPr>
              <a:t>この経験を90日間積み重ねます。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34 / 43</a:t>
            </a:r>
            <a:endParaRPr lang="en-US" sz="11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6B74C4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止まった日にこそ、ひとりにしない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「戻るため」の5つのサポート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2036003" cy="2468880"/>
          </a:xfrm>
          <a:prstGeom prst="roundRect">
            <a:avLst>
              <a:gd name="adj" fmla="val 5389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56330" y="2377440"/>
            <a:ext cx="603504" cy="603504"/>
          </a:xfrm>
          <a:prstGeom prst="ellipse">
            <a:avLst/>
          </a:prstGeom>
          <a:solidFill>
            <a:srgbClr val="ECEDFB"/>
          </a:solidFill>
          <a:ln/>
        </p:spPr>
      </p:sp>
      <p:sp>
        <p:nvSpPr>
          <p:cNvPr id="7" name="Text 5"/>
          <p:cNvSpPr/>
          <p:nvPr/>
        </p:nvSpPr>
        <p:spPr>
          <a:xfrm>
            <a:off x="1356330" y="23774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👤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77240" y="3063240"/>
            <a:ext cx="176168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5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個別セッション3回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3566160"/>
            <a:ext cx="176168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現在地→軌道修正→90日間の振り返り。「私の場合は？」を一緒に整理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858963" y="2148840"/>
            <a:ext cx="2036003" cy="2468880"/>
          </a:xfrm>
          <a:prstGeom prst="roundRect">
            <a:avLst>
              <a:gd name="adj" fmla="val 5389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75213" y="2377440"/>
            <a:ext cx="603504" cy="603504"/>
          </a:xfrm>
          <a:prstGeom prst="ellipse">
            <a:avLst/>
          </a:prstGeom>
          <a:solidFill>
            <a:srgbClr val="ECEDFB"/>
          </a:solidFill>
          <a:ln/>
        </p:spPr>
      </p:sp>
      <p:sp>
        <p:nvSpPr>
          <p:cNvPr id="12" name="Text 10"/>
          <p:cNvSpPr/>
          <p:nvPr/>
        </p:nvSpPr>
        <p:spPr>
          <a:xfrm>
            <a:off x="3575213" y="23774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🌅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2996123" y="3063240"/>
            <a:ext cx="176168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5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朝活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996123" y="3566160"/>
            <a:ext cx="176168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身体を整え、その日最初の「できた」をつくる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77846" y="2148840"/>
            <a:ext cx="2036003" cy="2468880"/>
          </a:xfrm>
          <a:prstGeom prst="roundRect">
            <a:avLst>
              <a:gd name="adj" fmla="val 5389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794096" y="2377440"/>
            <a:ext cx="603504" cy="603504"/>
          </a:xfrm>
          <a:prstGeom prst="ellipse">
            <a:avLst/>
          </a:prstGeom>
          <a:solidFill>
            <a:srgbClr val="ECEDFB"/>
          </a:solidFill>
          <a:ln/>
        </p:spPr>
      </p:sp>
      <p:sp>
        <p:nvSpPr>
          <p:cNvPr id="17" name="Text 15"/>
          <p:cNvSpPr/>
          <p:nvPr/>
        </p:nvSpPr>
        <p:spPr>
          <a:xfrm>
            <a:off x="5794096" y="23774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📝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5215006" y="3063240"/>
            <a:ext cx="176168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5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できたのかけら報告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215006" y="3566160"/>
            <a:ext cx="176168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自分では見えない「できた」を、仲間と見つける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296729" y="2148840"/>
            <a:ext cx="2036003" cy="2468880"/>
          </a:xfrm>
          <a:prstGeom prst="roundRect">
            <a:avLst>
              <a:gd name="adj" fmla="val 5389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12979" y="2377440"/>
            <a:ext cx="603504" cy="603504"/>
          </a:xfrm>
          <a:prstGeom prst="ellipse">
            <a:avLst/>
          </a:prstGeom>
          <a:solidFill>
            <a:srgbClr val="ECEDFB"/>
          </a:solidFill>
          <a:ln/>
        </p:spPr>
      </p:sp>
      <p:sp>
        <p:nvSpPr>
          <p:cNvPr id="22" name="Text 20"/>
          <p:cNvSpPr/>
          <p:nvPr/>
        </p:nvSpPr>
        <p:spPr>
          <a:xfrm>
            <a:off x="8012979" y="23774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💬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7433889" y="3063240"/>
            <a:ext cx="176168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5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オープンチャット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433889" y="3566160"/>
            <a:ext cx="176168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成功報告だけじゃない。「止まってます」と言っていい場所。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515612" y="2148840"/>
            <a:ext cx="2036003" cy="2468880"/>
          </a:xfrm>
          <a:prstGeom prst="roundRect">
            <a:avLst>
              <a:gd name="adj" fmla="val 5389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231862" y="2377440"/>
            <a:ext cx="603504" cy="603504"/>
          </a:xfrm>
          <a:prstGeom prst="ellipse">
            <a:avLst/>
          </a:prstGeom>
          <a:solidFill>
            <a:srgbClr val="ECEDFB"/>
          </a:solidFill>
          <a:ln/>
        </p:spPr>
      </p:sp>
      <p:sp>
        <p:nvSpPr>
          <p:cNvPr id="27" name="Text 25"/>
          <p:cNvSpPr/>
          <p:nvPr/>
        </p:nvSpPr>
        <p:spPr>
          <a:xfrm>
            <a:off x="10231862" y="23774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🎥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9652772" y="3063240"/>
            <a:ext cx="176168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5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講義アーカイブ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9652772" y="3566160"/>
            <a:ext cx="176168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参加できなかった日も、あとから戻れる。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40080" y="5742432"/>
            <a:ext cx="10911535" cy="658368"/>
          </a:xfrm>
          <a:prstGeom prst="roundRect">
            <a:avLst>
              <a:gd name="adj" fmla="val 19444"/>
            </a:avLst>
          </a:prstGeom>
          <a:solidFill>
            <a:srgbClr val="FDEEE7"/>
          </a:solidFill>
          <a:ln/>
        </p:spPr>
      </p:sp>
      <p:sp>
        <p:nvSpPr>
          <p:cNvPr id="31" name="Text 29"/>
          <p:cNvSpPr/>
          <p:nvPr/>
        </p:nvSpPr>
        <p:spPr>
          <a:xfrm>
            <a:off x="960120" y="5742432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8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すべてのサポートの目的は一つ。「止まっても、また戻れる」ため。</a:t>
            </a:r>
            <a:endParaRPr lang="en-US" sz="1850" dirty="0"/>
          </a:p>
        </p:txBody>
      </p:sp>
      <p:sp>
        <p:nvSpPr>
          <p:cNvPr id="32" name="Text 30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35 / 43</a:t>
            </a:r>
            <a:endParaRPr lang="en-US" sz="11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90日後の「私なら、またできる」へ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できたのかけらメソッド　小さな「できた」から、自分を信じて目標を叶える90日間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18608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148840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234440" y="2148840"/>
            <a:ext cx="454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グループ講義　全6回／各90分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318608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15888" y="2148840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827368" y="2148840"/>
            <a:ext cx="454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個別セッション　3回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2807208"/>
            <a:ext cx="5318608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2807208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234440" y="2807208"/>
            <a:ext cx="454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朝活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6233008" y="2807208"/>
            <a:ext cx="5318608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15888" y="2807208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827368" y="2807208"/>
            <a:ext cx="454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できたのかけら報告コミュニティ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640080" y="3465576"/>
            <a:ext cx="5318608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3465576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234440" y="3465576"/>
            <a:ext cx="454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オープンチャット伴走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6233008" y="3465576"/>
            <a:ext cx="5318608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15888" y="3465576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827368" y="3465576"/>
            <a:ext cx="454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講義アーカイブ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640080" y="4343400"/>
            <a:ext cx="10911535" cy="1508760"/>
          </a:xfrm>
          <a:prstGeom prst="roundRect">
            <a:avLst>
              <a:gd name="adj" fmla="val 7273"/>
            </a:avLst>
          </a:prstGeom>
          <a:solidFill>
            <a:srgbClr val="FDEEE7"/>
          </a:solidFill>
          <a:ln/>
        </p:spPr>
      </p:sp>
      <p:sp>
        <p:nvSpPr>
          <p:cNvPr id="24" name="Shape 22"/>
          <p:cNvSpPr/>
          <p:nvPr/>
        </p:nvSpPr>
        <p:spPr>
          <a:xfrm>
            <a:off x="1005840" y="4572000"/>
            <a:ext cx="2743200" cy="457200"/>
          </a:xfrm>
          <a:prstGeom prst="roundRect">
            <a:avLst>
              <a:gd name="adj" fmla="val 50000"/>
            </a:avLst>
          </a:prstGeom>
          <a:solidFill>
            <a:srgbClr val="DD6E4E"/>
          </a:solidFill>
          <a:ln/>
        </p:spPr>
      </p:sp>
      <p:sp>
        <p:nvSpPr>
          <p:cNvPr id="25" name="Text 23"/>
          <p:cNvSpPr/>
          <p:nvPr/>
        </p:nvSpPr>
        <p:spPr>
          <a:xfrm>
            <a:off x="1005840" y="45720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第1期募集　限定5名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005840" y="516636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一人ひとりの目標と、「できたのかけら」をちゃんと見つけながら伴走したいから。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36 / 43</a:t>
            </a:r>
            <a:endParaRPr lang="en-US" sz="11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CE9A2E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参加費の前に、知っておいてほしいこと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身体・思考・習慣を一緒に整える、伴走型のプログラム。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10911535" cy="2011680"/>
          </a:xfrm>
          <a:prstGeom prst="roundRect">
            <a:avLst>
              <a:gd name="adj" fmla="val 5455"/>
            </a:avLst>
          </a:prstGeom>
          <a:solidFill>
            <a:srgbClr val="F3ECE3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286000"/>
            <a:ext cx="1091153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8A7A6C"/>
                </a:solidFill>
              </a:rPr>
              <a:t>一般的には、</a:t>
            </a:r>
            <a:endParaRPr lang="en-US" sz="16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5200" b="1" dirty="0">
                <a:solidFill>
                  <a:srgbClr val="B7A99A"/>
                </a:solidFill>
              </a:rPr>
              <a:t>40万円 〜 60万円</a:t>
            </a:r>
            <a:endParaRPr lang="en-US" sz="16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8A7A6C"/>
                </a:solidFill>
              </a:rPr>
              <a:t>ほどかかることが多い金額です。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46634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けれど、今回は――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37 / 43</a:t>
            </a:r>
            <a:endParaRPr lang="en-US" sz="11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CE9A2E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参加費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911535" cy="1554480"/>
          </a:xfrm>
          <a:prstGeom prst="roundRect">
            <a:avLst>
              <a:gd name="adj" fmla="val 7059"/>
            </a:avLst>
          </a:prstGeom>
          <a:solidFill>
            <a:srgbClr val="FFF3DA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737360"/>
            <a:ext cx="1091153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CE9A2E"/>
                </a:solidFill>
              </a:rPr>
              <a:t>298,000</a:t>
            </a:r>
            <a:pPr algn="ctr" indent="0" marL="0">
              <a:buNone/>
            </a:pPr>
            <a:r>
              <a:rPr lang="en-US" sz="3000" b="1" dirty="0">
                <a:solidFill>
                  <a:srgbClr val="CE9A2E"/>
                </a:solidFill>
              </a:rPr>
              <a:t>円</a:t>
            </a:r>
            <a:endParaRPr lang="en-US" sz="6200" dirty="0"/>
          </a:p>
        </p:txBody>
      </p:sp>
      <p:sp>
        <p:nvSpPr>
          <p:cNvPr id="6" name="Text 4"/>
          <p:cNvSpPr/>
          <p:nvPr/>
        </p:nvSpPr>
        <p:spPr>
          <a:xfrm>
            <a:off x="1188720" y="3703320"/>
            <a:ext cx="98142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00"/>
              </a:lnSpc>
              <a:spcAft>
                <a:spcPts val="1400"/>
              </a:spcAft>
              <a:buNone/>
            </a:pPr>
            <a:r>
              <a:rPr lang="en-US" sz="1850" b="1" dirty="0">
                <a:solidFill>
                  <a:srgbClr val="4A3B30"/>
                </a:solidFill>
              </a:rPr>
              <a:t>これは、6回の講義を聞くためだけの90日間ではありません。</a:t>
            </a:r>
            <a:endParaRPr lang="en-US" sz="1850" dirty="0"/>
          </a:p>
          <a:p>
            <a:pPr algn="ctr" indent="0" marL="0">
              <a:lnSpc>
                <a:spcPts val="2400"/>
              </a:lnSpc>
              <a:spcAft>
                <a:spcPts val="1400"/>
              </a:spcAft>
              <a:buNone/>
            </a:pPr>
            <a:r>
              <a:rPr lang="en-US" sz="2300" b="1" dirty="0">
                <a:solidFill>
                  <a:srgbClr val="DD6E4E"/>
                </a:solidFill>
              </a:rPr>
              <a:t>できる。止まる。相談する。変える。戻る。</a:t>
            </a:r>
            <a:endParaRPr lang="en-US" sz="1850" dirty="0"/>
          </a:p>
          <a:p>
            <a:pPr algn="ctr" indent="0" marL="0">
              <a:lnSpc>
                <a:spcPts val="2400"/>
              </a:lnSpc>
              <a:spcAft>
                <a:spcPts val="1400"/>
              </a:spcAft>
              <a:buNone/>
            </a:pPr>
            <a:r>
              <a:rPr lang="en-US" sz="1850" b="1" dirty="0">
                <a:solidFill>
                  <a:srgbClr val="4A3B30"/>
                </a:solidFill>
              </a:rPr>
              <a:t>その経験を積み重ね、「私は私を信用していい」を育てる90日間です。</a:t>
            </a:r>
            <a:endParaRPr lang="en-US" sz="1850" dirty="0"/>
          </a:p>
        </p:txBody>
      </p:sp>
      <p:sp>
        <p:nvSpPr>
          <p:cNvPr id="7" name="Text 5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38 / 43</a:t>
            </a:r>
            <a:endParaRPr lang="en-US" sz="11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今日中のお申し込み・ご入金で、さらに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0911535" cy="2880360"/>
          </a:xfrm>
          <a:prstGeom prst="roundRect">
            <a:avLst>
              <a:gd name="adj" fmla="val 3810"/>
            </a:avLst>
          </a:prstGeom>
          <a:solidFill>
            <a:srgbClr val="FDEEE7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691640"/>
            <a:ext cx="10911535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2400" strike="sngStrike" dirty="0">
                <a:solidFill>
                  <a:srgbClr val="B7A99A"/>
                </a:solidFill>
              </a:rPr>
              <a:t>298,000円</a:t>
            </a:r>
            <a:endParaRPr lang="en-US" sz="2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F0876A"/>
                </a:solidFill>
              </a:rPr>
              <a:t>↓</a:t>
            </a:r>
            <a:endParaRPr lang="en-US" sz="2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6800" b="1" dirty="0">
                <a:solidFill>
                  <a:srgbClr val="DD6E4E"/>
                </a:solidFill>
              </a:rPr>
              <a:t>248,000</a:t>
            </a:r>
            <a:pPr algn="ctr" indent="0" marL="0">
              <a:spcAft>
                <a:spcPts val="600"/>
              </a:spcAft>
              <a:buNone/>
            </a:pPr>
            <a:r>
              <a:rPr lang="en-US" sz="3200" b="1" dirty="0">
                <a:solidFill>
                  <a:srgbClr val="DD6E4E"/>
                </a:solidFill>
              </a:rPr>
              <a:t>円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3901288" y="4800600"/>
            <a:ext cx="4389120" cy="502920"/>
          </a:xfrm>
          <a:prstGeom prst="roundRect">
            <a:avLst>
              <a:gd name="adj" fmla="val 50000"/>
            </a:avLst>
          </a:prstGeom>
          <a:solidFill>
            <a:srgbClr val="DD6E4E"/>
          </a:solidFill>
          <a:ln/>
        </p:spPr>
      </p:sp>
      <p:sp>
        <p:nvSpPr>
          <p:cNvPr id="7" name="Text 5"/>
          <p:cNvSpPr/>
          <p:nvPr/>
        </p:nvSpPr>
        <p:spPr>
          <a:xfrm>
            <a:off x="3901288" y="480060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本日中のお申し込み・ご入金限定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39 / 43</a:t>
            </a:r>
            <a:endParaRPr lang="en-US" sz="11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2F9188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「私にもできる？」と思っているあなたへ</a:t>
            </a:r>
            <a:endParaRPr lang="en-US" sz="275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911535" cy="758952"/>
          </a:xfrm>
          <a:prstGeom prst="roundRect">
            <a:avLst>
              <a:gd name="adj" fmla="val 14458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783080"/>
            <a:ext cx="4572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5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</a:t>
            </a:r>
            <a:endParaRPr lang="en-US" sz="2050" dirty="0"/>
          </a:p>
        </p:txBody>
      </p:sp>
      <p:sp>
        <p:nvSpPr>
          <p:cNvPr id="6" name="Text 4"/>
          <p:cNvSpPr/>
          <p:nvPr/>
        </p:nvSpPr>
        <p:spPr>
          <a:xfrm>
            <a:off x="1325880" y="1783080"/>
            <a:ext cx="31089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私にもできますか？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480560" y="1783080"/>
            <a:ext cx="4114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983480" y="1783080"/>
            <a:ext cx="6293815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55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「これならできる」から始めます。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640080" y="2633472"/>
            <a:ext cx="10911535" cy="758952"/>
          </a:xfrm>
          <a:prstGeom prst="roundRect">
            <a:avLst>
              <a:gd name="adj" fmla="val 14458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633472"/>
            <a:ext cx="4572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5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</a:t>
            </a:r>
            <a:endParaRPr lang="en-US" sz="2050" dirty="0"/>
          </a:p>
        </p:txBody>
      </p:sp>
      <p:sp>
        <p:nvSpPr>
          <p:cNvPr id="11" name="Text 9"/>
          <p:cNvSpPr/>
          <p:nvPr/>
        </p:nvSpPr>
        <p:spPr>
          <a:xfrm>
            <a:off x="1325880" y="2633472"/>
            <a:ext cx="31089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忙しくても大丈夫？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480560" y="2633472"/>
            <a:ext cx="4114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983480" y="2633472"/>
            <a:ext cx="6293815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55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今の生活に入る大きさを一緒に探します。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640080" y="3483864"/>
            <a:ext cx="10911535" cy="758952"/>
          </a:xfrm>
          <a:prstGeom prst="roundRect">
            <a:avLst>
              <a:gd name="adj" fmla="val 14458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3483864"/>
            <a:ext cx="4572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5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</a:t>
            </a:r>
            <a:endParaRPr lang="en-US" sz="2050" dirty="0"/>
          </a:p>
        </p:txBody>
      </p:sp>
      <p:sp>
        <p:nvSpPr>
          <p:cNvPr id="16" name="Text 14"/>
          <p:cNvSpPr/>
          <p:nvPr/>
        </p:nvSpPr>
        <p:spPr>
          <a:xfrm>
            <a:off x="1325880" y="3483864"/>
            <a:ext cx="31089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また止まったら？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480560" y="3483864"/>
            <a:ext cx="4114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983480" y="3483864"/>
            <a:ext cx="6293815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55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止まってください。そこから戻る練習をします。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640080" y="4334256"/>
            <a:ext cx="10911535" cy="758952"/>
          </a:xfrm>
          <a:prstGeom prst="roundRect">
            <a:avLst>
              <a:gd name="adj" fmla="val 14458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8680" y="4334256"/>
            <a:ext cx="4572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5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</a:t>
            </a:r>
            <a:endParaRPr lang="en-US" sz="2050" dirty="0"/>
          </a:p>
        </p:txBody>
      </p:sp>
      <p:sp>
        <p:nvSpPr>
          <p:cNvPr id="21" name="Text 19"/>
          <p:cNvSpPr/>
          <p:nvPr/>
        </p:nvSpPr>
        <p:spPr>
          <a:xfrm>
            <a:off x="1325880" y="4334256"/>
            <a:ext cx="31089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結果が出なかったら？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480560" y="4334256"/>
            <a:ext cx="4114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4983480" y="4334256"/>
            <a:ext cx="6293815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55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結果だけではなく、この先も使える「自分の進み方」をつくります。</a:t>
            </a:r>
            <a:endParaRPr lang="en-US" sz="1550" dirty="0"/>
          </a:p>
        </p:txBody>
      </p:sp>
      <p:sp>
        <p:nvSpPr>
          <p:cNvPr id="24" name="Shape 22"/>
          <p:cNvSpPr/>
          <p:nvPr/>
        </p:nvSpPr>
        <p:spPr>
          <a:xfrm>
            <a:off x="640080" y="5184648"/>
            <a:ext cx="10911535" cy="758952"/>
          </a:xfrm>
          <a:prstGeom prst="roundRect">
            <a:avLst>
              <a:gd name="adj" fmla="val 14458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68680" y="5184648"/>
            <a:ext cx="4572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5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</a:t>
            </a:r>
            <a:endParaRPr lang="en-US" sz="2050" dirty="0"/>
          </a:p>
        </p:txBody>
      </p:sp>
      <p:sp>
        <p:nvSpPr>
          <p:cNvPr id="26" name="Text 24"/>
          <p:cNvSpPr/>
          <p:nvPr/>
        </p:nvSpPr>
        <p:spPr>
          <a:xfrm>
            <a:off x="1325880" y="5184648"/>
            <a:ext cx="31089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一人でやってみてもいい？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4480560" y="5184648"/>
            <a:ext cx="4114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4983480" y="5184648"/>
            <a:ext cx="6293815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55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もちろんです。でも、一人で何度も止まってきたなら、「環境を変える」ことも一つの選択です。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 / 43</a:t>
            </a:r>
            <a:endParaRPr lang="en-US" sz="11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参加者限定特典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2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講師との15分間、個別ミニ相談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10911535" cy="1417320"/>
          </a:xfrm>
          <a:prstGeom prst="roundRect">
            <a:avLst>
              <a:gd name="adj" fmla="val 7742"/>
            </a:avLst>
          </a:prstGeom>
          <a:solidFill>
            <a:srgbClr val="FDEEE7"/>
          </a:solidFill>
          <a:ln/>
        </p:spPr>
      </p:sp>
      <p:sp>
        <p:nvSpPr>
          <p:cNvPr id="6" name="Shape 4"/>
          <p:cNvSpPr/>
          <p:nvPr/>
        </p:nvSpPr>
        <p:spPr>
          <a:xfrm>
            <a:off x="1051560" y="2148840"/>
            <a:ext cx="868680" cy="86868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14884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💬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2194560" y="1874520"/>
            <a:ext cx="899129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9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参加者限定で、講師と1対1で話せる15分間。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あなたの「今」に合わせて、一緒に考えます。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40080" y="3657600"/>
            <a:ext cx="3484778" cy="1417320"/>
          </a:xfrm>
          <a:prstGeom prst="roundRect">
            <a:avLst>
              <a:gd name="adj" fmla="val 7742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89861" y="3858768"/>
            <a:ext cx="585216" cy="585216"/>
          </a:xfrm>
          <a:prstGeom prst="ellipse">
            <a:avLst/>
          </a:prstGeom>
          <a:solidFill>
            <a:srgbClr val="FDEEE7"/>
          </a:solidFill>
          <a:ln/>
        </p:spPr>
      </p:sp>
      <p:sp>
        <p:nvSpPr>
          <p:cNvPr id="11" name="Text 9"/>
          <p:cNvSpPr/>
          <p:nvPr/>
        </p:nvSpPr>
        <p:spPr>
          <a:xfrm>
            <a:off x="2089861" y="3858768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🎯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777240" y="4526280"/>
            <a:ext cx="32104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3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自分に合った目標の</a:t>
            </a:r>
            <a:endParaRPr lang="en-US" sz="135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3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立て方を相談したい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4353458" y="3657600"/>
            <a:ext cx="3484778" cy="1417320"/>
          </a:xfrm>
          <a:prstGeom prst="roundRect">
            <a:avLst>
              <a:gd name="adj" fmla="val 7742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803240" y="3858768"/>
            <a:ext cx="585216" cy="585216"/>
          </a:xfrm>
          <a:prstGeom prst="ellipse">
            <a:avLst/>
          </a:prstGeom>
          <a:solidFill>
            <a:srgbClr val="FDEEE7"/>
          </a:solidFill>
          <a:ln/>
        </p:spPr>
      </p:sp>
      <p:sp>
        <p:nvSpPr>
          <p:cNvPr id="15" name="Text 13"/>
          <p:cNvSpPr/>
          <p:nvPr/>
        </p:nvSpPr>
        <p:spPr>
          <a:xfrm>
            <a:off x="5803240" y="3858768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🧭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4490618" y="4526280"/>
            <a:ext cx="32104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3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今、何から始めれば</a:t>
            </a:r>
            <a:endParaRPr lang="en-US" sz="135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3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いいか分からない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8066837" y="3657600"/>
            <a:ext cx="3484778" cy="1417320"/>
          </a:xfrm>
          <a:prstGeom prst="roundRect">
            <a:avLst>
              <a:gd name="adj" fmla="val 7742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516618" y="3858768"/>
            <a:ext cx="585216" cy="585216"/>
          </a:xfrm>
          <a:prstGeom prst="ellipse">
            <a:avLst/>
          </a:prstGeom>
          <a:solidFill>
            <a:srgbClr val="FDEEE7"/>
          </a:solidFill>
          <a:ln/>
        </p:spPr>
      </p:sp>
      <p:sp>
        <p:nvSpPr>
          <p:cNvPr id="19" name="Text 17"/>
          <p:cNvSpPr/>
          <p:nvPr/>
        </p:nvSpPr>
        <p:spPr>
          <a:xfrm>
            <a:off x="9516618" y="3858768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🔄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8203997" y="4526280"/>
            <a:ext cx="32104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3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続かなかった過去を</a:t>
            </a:r>
            <a:endParaRPr lang="en-US" sz="135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3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どう活かせばいいか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40080" y="5349240"/>
            <a:ext cx="10911535" cy="658368"/>
          </a:xfrm>
          <a:prstGeom prst="roundRect">
            <a:avLst>
              <a:gd name="adj" fmla="val 19444"/>
            </a:avLst>
          </a:prstGeom>
          <a:solidFill>
            <a:srgbClr val="FDEEE7"/>
          </a:solidFill>
          <a:ln/>
        </p:spPr>
      </p:sp>
      <p:sp>
        <p:nvSpPr>
          <p:cNvPr id="22" name="Text 20"/>
          <p:cNvSpPr/>
          <p:nvPr/>
        </p:nvSpPr>
        <p:spPr>
          <a:xfrm>
            <a:off x="960120" y="5349240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8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予約方法は、ワークショップ当日にご案内します。</a:t>
            </a:r>
            <a:endParaRPr lang="en-US" sz="1850" dirty="0"/>
          </a:p>
        </p:txBody>
      </p:sp>
      <p:sp>
        <p:nvSpPr>
          <p:cNvPr id="23" name="Text 21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41 / 43</a:t>
            </a:r>
            <a:endParaRPr lang="en-US" sz="11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Shape 1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2F9188">
              <a:alpha val="13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97280" y="1463040"/>
            <a:ext cx="9997135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3000"/>
              </a:lnSpc>
              <a:spcAft>
                <a:spcPts val="1600"/>
              </a:spcAft>
              <a:buNone/>
            </a:pPr>
            <a:r>
              <a:rPr lang="en-US" sz="2050" dirty="0">
                <a:solidFill>
                  <a:srgbClr val="4A3B30"/>
                </a:solidFill>
              </a:rPr>
              <a:t>この90日間、一度も止まらなくていい。完璧じゃなくていい。</a:t>
            </a:r>
            <a:endParaRPr lang="en-US" sz="2050" dirty="0"/>
          </a:p>
          <a:p>
            <a:pPr algn="ctr" indent="0" marL="0">
              <a:lnSpc>
                <a:spcPts val="3000"/>
              </a:lnSpc>
              <a:spcAft>
                <a:spcPts val="1600"/>
              </a:spcAft>
              <a:buNone/>
            </a:pPr>
            <a:r>
              <a:rPr lang="en-US" sz="2050" dirty="0">
                <a:solidFill>
                  <a:srgbClr val="4A3B30"/>
                </a:solidFill>
              </a:rPr>
              <a:t>できない日があっていい。迷っていい。誰かに頼っていい。</a:t>
            </a:r>
            <a:endParaRPr lang="en-US" sz="2050" dirty="0"/>
          </a:p>
          <a:p>
            <a:pPr algn="ctr" indent="0" marL="0">
              <a:lnSpc>
                <a:spcPts val="3000"/>
              </a:lnSpc>
              <a:spcAft>
                <a:spcPts val="1600"/>
              </a:spcAft>
              <a:buNone/>
            </a:pPr>
            <a:r>
              <a:rPr lang="en-US" sz="1850" dirty="0">
                <a:solidFill>
                  <a:srgbClr val="8A7A6C"/>
                </a:solidFill>
              </a:rPr>
              <a:t>ただ、一つだけ。</a:t>
            </a:r>
            <a:endParaRPr lang="en-US" sz="2050" dirty="0"/>
          </a:p>
          <a:p>
            <a:pPr algn="ctr" indent="0" marL="0">
              <a:lnSpc>
                <a:spcPts val="3000"/>
              </a:lnSpc>
              <a:spcAft>
                <a:spcPts val="1600"/>
              </a:spcAft>
              <a:buNone/>
            </a:pPr>
            <a:r>
              <a:rPr lang="en-US" sz="2550" b="1" dirty="0">
                <a:solidFill>
                  <a:srgbClr val="DD6E4E"/>
                </a:solidFill>
              </a:rPr>
              <a:t>止まっても、また戻ってくる。</a:t>
            </a:r>
            <a:endParaRPr lang="en-US" sz="2050" dirty="0"/>
          </a:p>
          <a:p>
            <a:pPr algn="ctr" indent="0" marL="0">
              <a:lnSpc>
                <a:spcPts val="3000"/>
              </a:lnSpc>
              <a:spcAft>
                <a:spcPts val="1600"/>
              </a:spcAft>
              <a:buNone/>
            </a:pPr>
            <a:r>
              <a:rPr lang="en-US" sz="1850" dirty="0">
                <a:solidFill>
                  <a:srgbClr val="8A7A6C"/>
                </a:solidFill>
              </a:rPr>
              <a:t>そして戻ってきたとき、一緒に言いましょう。</a:t>
            </a:r>
            <a:endParaRPr lang="en-US" sz="2050" dirty="0"/>
          </a:p>
          <a:p>
            <a:pPr algn="ctr" indent="0" marL="0">
              <a:lnSpc>
                <a:spcPts val="3000"/>
              </a:lnSpc>
              <a:spcAft>
                <a:spcPts val="1600"/>
              </a:spcAft>
              <a:buNone/>
            </a:pPr>
            <a:r>
              <a:rPr lang="en-US" sz="3000" b="1" dirty="0">
                <a:solidFill>
                  <a:srgbClr val="4A3B30"/>
                </a:solidFill>
              </a:rPr>
              <a:t>「戻ってこられた。今日も一つ、できた。」</a:t>
            </a:r>
            <a:endParaRPr lang="en-US" sz="2050" dirty="0"/>
          </a:p>
        </p:txBody>
      </p:sp>
      <p:sp>
        <p:nvSpPr>
          <p:cNvPr id="6" name="Text 4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42 / 43</a:t>
            </a:r>
            <a:endParaRPr lang="en-US" sz="11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600000">
            <a:off x="-1097280" y="-1005840"/>
            <a:ext cx="2743200" cy="2743200"/>
          </a:xfrm>
          <a:prstGeom prst="hexagon">
            <a:avLst/>
          </a:prstGeom>
          <a:solidFill>
            <a:srgbClr val="CE9A2E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 rot="-840000">
            <a:off x="10058400" y="4846320"/>
            <a:ext cx="2926080" cy="2926080"/>
          </a:xfrm>
          <a:prstGeom prst="hexagon">
            <a:avLst/>
          </a:prstGeom>
          <a:solidFill>
            <a:srgbClr val="F0876A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 rot="1320000">
            <a:off x="10241280" y="-1097280"/>
            <a:ext cx="1828800" cy="1828800"/>
          </a:xfrm>
          <a:prstGeom prst="hexagon">
            <a:avLst/>
          </a:prstGeom>
          <a:solidFill>
            <a:srgbClr val="2F9188">
              <a:alpha val="15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64008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1234440"/>
            <a:ext cx="107259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できたのかけらメソッド</a:t>
            </a:r>
            <a:endParaRPr lang="en-US" sz="3700" dirty="0"/>
          </a:p>
        </p:txBody>
      </p:sp>
      <p:sp>
        <p:nvSpPr>
          <p:cNvPr id="7" name="Text 5"/>
          <p:cNvSpPr/>
          <p:nvPr/>
        </p:nvSpPr>
        <p:spPr>
          <a:xfrm>
            <a:off x="731520" y="192024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― 小さな「できた」から、自分を信じて目標を叶える90日間 ―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260604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CE9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第1期｜限定5名　90日間　298,000円</a:t>
            </a:r>
            <a:endParaRPr lang="en-US" sz="1850" dirty="0"/>
          </a:p>
        </p:txBody>
      </p:sp>
      <p:sp>
        <p:nvSpPr>
          <p:cNvPr id="9" name="Text 7"/>
          <p:cNvSpPr/>
          <p:nvPr/>
        </p:nvSpPr>
        <p:spPr>
          <a:xfrm>
            <a:off x="731520" y="3291840"/>
            <a:ext cx="10725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そして最後は、この言葉で。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3703320"/>
            <a:ext cx="10725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「私なら、またできる。」</a:t>
            </a:r>
            <a:endParaRPr lang="en-US" sz="4600" dirty="0"/>
          </a:p>
        </p:txBody>
      </p:sp>
      <p:sp>
        <p:nvSpPr>
          <p:cNvPr id="11" name="Text 9"/>
          <p:cNvSpPr/>
          <p:nvPr/>
        </p:nvSpPr>
        <p:spPr>
          <a:xfrm>
            <a:off x="731520" y="470916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小さな「できた」が、あなたの未来への道しるべになる。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43 / 43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43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2026-08-31T06:13:30Z</dcterms:created>
  <dcterms:modified xsi:type="dcterms:W3CDTF">2026-08-31T06:13:30Z</dcterms:modified>
</cp:coreProperties>
</file>