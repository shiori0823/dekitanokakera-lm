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①9月9日（水）10:00〜11:30　｜　②9月26日（土）9:30〜11:00</a:t>
            </a:r>
            <a:endParaRPr lang="en-US" sz="16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オンライン（Zoom）　｜　参加費：3,300円（感想アンケート協力で無料）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505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7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200" kern="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31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4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95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2050" b="1" dirty="0">
                <a:solidFill>
                  <a:srgbClr val="DD6E4E"/>
                </a:solidFill>
              </a:rPr>
              <a:t>「できたのかけら」</a:t>
            </a:r>
            <a:endParaRPr lang="en-US" sz="1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42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81381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 rot="180000">
            <a:off x="9183319" y="1746504"/>
            <a:ext cx="2450592" cy="3209544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  <a:effectLst>
            <a:outerShdw sx="100000" sy="100000" kx="0" ky="0" algn="bl" rotWithShape="0" blurRad="101600" dist="38100" dir="5400000">
              <a:srgbClr val="4A3B30">
                <a:alpha val="25000"/>
              </a:srgbClr>
            </a:outerShdw>
          </a:effectLst>
        </p:spPr>
      </p:sp>
      <p:pic>
        <p:nvPicPr>
          <p:cNvPr id="10" name="Image 0" descr="/home/user/dekitanokakera-LM/workshop/images/diary-2025-11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">
            <a:off x="9265615" y="1828800"/>
            <a:ext cx="2286000" cy="30449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1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6" name="Text 13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6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8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42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95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DD6E4E"/>
                </a:solidFill>
              </a:rPr>
              <a:t>「私にもできた。」</a:t>
            </a:r>
            <a:endParaRPr lang="en-US" sz="3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そう、自分自身で思えること。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そして気づきました。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42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①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42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②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3474720"/>
            <a:ext cx="94484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9個できても、1個できなかったら、</a:t>
            </a:r>
            <a:endParaRPr lang="en-US" sz="22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42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　｜　③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10911535" cy="2834640"/>
          </a:xfrm>
          <a:prstGeom prst="roundRect">
            <a:avLst>
              <a:gd name="adj" fmla="val 3871"/>
            </a:avLst>
          </a:prstGeom>
          <a:solidFill>
            <a:srgbClr val="ECEDFB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51460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4560" y="251460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371600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277258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643018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0178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548677" y="347472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14437" y="3474720"/>
            <a:ext cx="290565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51597" y="3474720"/>
            <a:ext cx="26313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34924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42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「私は続けられない人」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A99A"/>
                </a:solidFill>
              </a:rPr>
              <a:t>❌ 思い込み
</a:t>
            </a:r>
            <a:endParaRPr lang="en-US" sz="1250" dirty="0"/>
          </a:p>
          <a:p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「忙しいから今は無理」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0876A"/>
                </a:solidFill>
              </a:rPr>
              <a:t>✅ 真実
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42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75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75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75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7A99A"/>
                </a:solidFill>
              </a:rPr>
              <a:t>❌「できない私はダメ」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ではなく、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5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42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6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42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0911535" cy="3611880"/>
          </a:xfrm>
          <a:prstGeom prst="roundRect">
            <a:avLst>
              <a:gd name="adj" fmla="val 30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5146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5146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15468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097280" y="3931920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42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2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42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42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4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42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5740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57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1783080"/>
            <a:ext cx="8442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rgbClr val="4A3B30"/>
                </a:solidFill>
              </a:rPr>
              <a:t>夜、お菓子を食べた。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8698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368698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97317" y="4069080"/>
            <a:ext cx="3454298" cy="1645920"/>
          </a:xfrm>
          <a:prstGeom prst="roundRect">
            <a:avLst>
              <a:gd name="adj" fmla="val 6667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343400"/>
            <a:ext cx="3454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97317" y="498348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42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10分歩けた。食事を調整できた。野菜を増やせた。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結果が出る前の前進を、なかったことにしない。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42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7 / 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3977640"/>
          </a:xfrm>
          <a:prstGeom prst="roundRect">
            <a:avLst>
              <a:gd name="adj" fmla="val 275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14884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788920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9997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42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3566160"/>
          </a:xfrm>
          <a:prstGeom prst="roundRect">
            <a:avLst>
              <a:gd name="adj" fmla="val 3077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42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でも、変わったのは体重だけではありません。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96312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2496312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09544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3922776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922776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922776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36008"/>
            <a:ext cx="10911535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636008"/>
            <a:ext cx="502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554480" y="4636008"/>
            <a:ext cx="97228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42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093644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59404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6564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12968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78728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20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32291" y="2286000"/>
            <a:ext cx="365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98051" y="2286000"/>
            <a:ext cx="2453564" cy="2377440"/>
          </a:xfrm>
          <a:prstGeom prst="roundRect">
            <a:avLst>
              <a:gd name="adj" fmla="val 4615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211" y="2286000"/>
            <a:ext cx="21792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8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42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2468880"/>
          </a:xfrm>
          <a:prstGeom prst="roundRect">
            <a:avLst>
              <a:gd name="adj" fmla="val 4444"/>
            </a:avLst>
          </a:prstGeom>
          <a:solidFill>
            <a:srgbClr val="ECEDFB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11680"/>
            <a:ext cx="99971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さらに、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5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7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3B30"/>
                </a:solidFill>
              </a:rPr>
              <a:t>という感覚を体験。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42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11535" cy="1417320"/>
          </a:xfrm>
          <a:prstGeom prst="roundRect">
            <a:avLst>
              <a:gd name="adj" fmla="val 7742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09115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3B30"/>
                </a:solidFill>
              </a:rPr>
              <a:t>前回より、　</a:t>
            </a:r>
            <a:pPr algn="ctr" indent="0" marL="0">
              <a:buNone/>
            </a:pPr>
            <a:r>
              <a:rPr lang="en-US" sz="4400" b="1" dirty="0">
                <a:solidFill>
                  <a:srgbClr val="CE9A2E"/>
                </a:solidFill>
              </a:rPr>
              <a:t>＋2.5kg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20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42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3・続き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15488" y="2286000"/>
            <a:ext cx="2468880" cy="30632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7" name="Image 0" descr="/home/user/dekitanokakera-LM/workshop/images/achievement-nantan-podi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08" y="2331720"/>
            <a:ext cx="2377440" cy="2971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4231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05840" y="3337560"/>
            <a:ext cx="2026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6278728" y="2103120"/>
            <a:ext cx="5272888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2725" y="2286000"/>
            <a:ext cx="2320290" cy="3063240"/>
          </a:xfrm>
          <a:prstGeom prst="roundRect">
            <a:avLst>
              <a:gd name="adj" fmla="val 1182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pic>
        <p:nvPicPr>
          <p:cNvPr id="12" name="Image 1" descr="/home/user/dekitanokakera-LM/workshop/images/achievement-squat-reco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445" y="2331720"/>
            <a:ext cx="2228850" cy="2971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4231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21753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6" name="Text 1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850" dirty="0"/>
          </a:p>
        </p:txBody>
      </p:sp>
      <p:sp>
        <p:nvSpPr>
          <p:cNvPr id="17" name="Text 1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42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1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42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2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42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3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2651760"/>
          </a:xfrm>
          <a:prstGeom prst="roundRect">
            <a:avLst>
              <a:gd name="adj" fmla="val 413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0175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17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4012387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42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　｜　4 /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10911535" cy="1874520"/>
          </a:xfrm>
          <a:prstGeom prst="roundRect">
            <a:avLst>
              <a:gd name="adj" fmla="val 585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2890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289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8808415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286000" y="3452774"/>
            <a:ext cx="8534095" cy="0"/>
          </a:xfrm>
          <a:prstGeom prst="line">
            <a:avLst/>
          </a:prstGeom>
          <a:noFill/>
          <a:ln w="254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ポイントは、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5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42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4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42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850" b="1" dirty="0">
                <a:solidFill>
                  <a:srgbClr val="8A7A6C"/>
                </a:solidFill>
              </a:rPr>
              <a:t>一度も止まらない私</a:t>
            </a:r>
            <a:endParaRPr lang="en-US" sz="1850" dirty="0"/>
          </a:p>
          <a:p>
            <a:pPr indent="0" marL="0">
              <a:buNone/>
            </a:pPr>
            <a:r>
              <a:rPr lang="en-US" sz="1500" dirty="0">
                <a:solidFill>
                  <a:srgbClr val="B7A99A"/>
                </a:solidFill>
              </a:rPr>
              <a:t>ではありません。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✅ 止まっても、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D6E4E"/>
                </a:solidFill>
              </a:rPr>
              <a:t>自分で戻れる私。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600" b="1" dirty="0">
                <a:solidFill>
                  <a:srgbClr val="F0876A"/>
                </a:solidFill>
              </a:rPr>
              <a:t>1日 × 90日 ＝ 90個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4A3B30"/>
                </a:solidFill>
              </a:rPr>
              <a:t>の「できた」の証拠。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42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5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7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42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42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85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85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 / 42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85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 / 42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50" dirty="0">
                <a:solidFill>
                  <a:srgbClr val="8A7A6C"/>
                </a:solidFill>
              </a:rPr>
              <a:t>この経験を90日間積み重ねます。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34 / 42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8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8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 / 42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 / 42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参加費の前に、知っておいてほしいこと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身体・思考・習慣を一緒に整える、伴走型のプログラム。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0911535" cy="2011680"/>
          </a:xfrm>
          <a:prstGeom prst="roundRect">
            <a:avLst>
              <a:gd name="adj" fmla="val 5455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一般的には、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5200" b="1" dirty="0">
                <a:solidFill>
                  <a:srgbClr val="B7A99A"/>
                </a:solidFill>
              </a:rPr>
              <a:t>40万円 〜 60万円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A7A6C"/>
                </a:solidFill>
              </a:rPr>
              <a:t>ほどかかることが多い金額です。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けれど、今回は――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37 / 42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円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3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85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85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 / 42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今日中のお申し込み・ご入金で、さらに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2880360"/>
          </a:xfrm>
          <a:prstGeom prst="roundRect">
            <a:avLst>
              <a:gd name="adj" fmla="val 3810"/>
            </a:avLst>
          </a:prstGeom>
          <a:solidFill>
            <a:srgbClr val="FDEE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91640"/>
            <a:ext cx="10911535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400" strike="sngStrike" dirty="0">
                <a:solidFill>
                  <a:srgbClr val="B7A99A"/>
                </a:solidFill>
              </a:rPr>
              <a:t>298,000円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F0876A"/>
                </a:solidFill>
              </a:rPr>
              <a:t>↓</a:t>
            </a:r>
            <a:endParaRPr lang="en-US" sz="2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6800" b="1" dirty="0">
                <a:solidFill>
                  <a:srgbClr val="DD6E4E"/>
                </a:solidFill>
              </a:rPr>
              <a:t>248,000</a:t>
            </a:r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DD6E4E"/>
                </a:solidFill>
              </a:rPr>
              <a:t>円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901288" y="480060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7" name="Text 5"/>
          <p:cNvSpPr/>
          <p:nvPr/>
        </p:nvSpPr>
        <p:spPr>
          <a:xfrm>
            <a:off x="3901288" y="48006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本日中のお申し込み・ご入金限定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 / 42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75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205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 / 42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この90日間、一度も止まらなくていい。完璧じゃなくていい。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050" dirty="0">
                <a:solidFill>
                  <a:srgbClr val="4A3B30"/>
                </a:solidFill>
              </a:rPr>
              <a:t>できない日があっていい。迷っていい。誰かに頼っていい。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ただ、一つだけ。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550" b="1" dirty="0">
                <a:solidFill>
                  <a:srgbClr val="DD6E4E"/>
                </a:solidFill>
              </a:rPr>
              <a:t>止まっても、また戻ってくる。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50" dirty="0">
                <a:solidFill>
                  <a:srgbClr val="8A7A6C"/>
                </a:solidFill>
              </a:rPr>
              <a:t>そして戻ってきたとき、一緒に言いましょう。</a:t>
            </a:r>
            <a:endParaRPr lang="en-US" sz="205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3000" b="1" dirty="0">
                <a:solidFill>
                  <a:srgbClr val="4A3B30"/>
                </a:solidFill>
              </a:rPr>
              <a:t>「戻ってこられた。今日も一つ、できた。」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41 / 42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7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 / 42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2026-08-31T05:51:52Z</dcterms:created>
  <dcterms:modified xsi:type="dcterms:W3CDTF">2026-08-31T05:51:52Z</dcterms:modified>
</cp:coreProperties>
</file>