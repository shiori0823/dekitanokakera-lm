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1005840" y="-91440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1080000">
            <a:off x="9692640" y="-1188720"/>
            <a:ext cx="2377440" cy="237744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200000">
            <a:off x="10607040" y="5120640"/>
            <a:ext cx="2743200" cy="2743200"/>
          </a:xfrm>
          <a:prstGeom prst="hexagon">
            <a:avLst/>
          </a:prstGeom>
          <a:solidFill>
            <a:srgbClr val="6B74C4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600000">
            <a:off x="-1280160" y="4937760"/>
            <a:ext cx="2194560" cy="2194560"/>
          </a:xfrm>
          <a:prstGeom prst="hexagon">
            <a:avLst/>
          </a:prstGeom>
          <a:solidFill>
            <a:srgbClr val="2F9188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1800000">
            <a:off x="5120640" y="6035040"/>
            <a:ext cx="1280160" cy="1280160"/>
          </a:xfrm>
          <a:prstGeom prst="hexagon">
            <a:avLst/>
          </a:prstGeom>
          <a:solidFill>
            <a:srgbClr val="5E9E5B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413248" y="566928"/>
            <a:ext cx="777240" cy="77724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5413248" y="566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🌱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①9月9日（水）10:00〜11:30　｜　②9月26日（土）9:30〜11:00</a:t>
            </a:r>
            <a:endParaRPr lang="en-US" sz="16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オンライン（Zoom）　｜　参加費：3,300円（感想アンケート協力で無料）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「私、ちゃんと進んでた」に気づく90分</a:t>
            </a:r>
            <a:endParaRPr lang="en-US" sz="3700" dirty="0"/>
          </a:p>
        </p:txBody>
      </p:sp>
      <p:sp>
        <p:nvSpPr>
          <p:cNvPr id="11" name="Text 9"/>
          <p:cNvSpPr/>
          <p:nvPr/>
        </p:nvSpPr>
        <p:spPr>
          <a:xfrm>
            <a:off x="731520" y="3127248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5050" dirty="0"/>
          </a:p>
        </p:txBody>
      </p:sp>
      <p:sp>
        <p:nvSpPr>
          <p:cNvPr id="12" name="Text 10"/>
          <p:cNvSpPr/>
          <p:nvPr/>
        </p:nvSpPr>
        <p:spPr>
          <a:xfrm>
            <a:off x="1280160" y="4370832"/>
            <a:ext cx="96286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「頑張ってるはずなのに、なんだか進んでない気がする…」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そんな方と一緒に、自分の中にもうある小さな「できた」を見つけて、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「あれ？私、ちゃんと進んでた！」に気づく90分にしたいと思っています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6291072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200" kern="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できたのかけら診断 ── ワークショップ編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「今日も何もできなかった」と</a:t>
            </a:r>
            <a:endParaRPr lang="en-US" sz="31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思っていませんか？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頑張っているのに、なぜか前に進んでいる気がしない。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62429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2062429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77240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目標を立てても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353458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75808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5775808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90618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「またできなかった」と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自分を責める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66837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89186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9489186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👀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03997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周りの「できた」ばかり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目に入る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160520"/>
            <a:ext cx="10911535" cy="1783080"/>
          </a:xfrm>
          <a:prstGeom prst="roundRect">
            <a:avLst>
              <a:gd name="adj" fmla="val 615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160520"/>
            <a:ext cx="1018001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950" b="1" dirty="0">
                <a:solidFill>
                  <a:srgbClr val="DD6E4E"/>
                </a:solidFill>
              </a:rPr>
              <a:t>でも本当に、あなたは「何もできていない」のでしょうか？</a:t>
            </a:r>
            <a:endParaRPr lang="en-US" sz="1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今日の90分で見つけるのは、あなたの中に、もうある</a:t>
            </a:r>
            <a:pPr indent="0" marL="0">
              <a:spcAft>
                <a:spcPts val="1000"/>
              </a:spcAft>
              <a:buNone/>
            </a:pPr>
            <a:r>
              <a:rPr lang="en-US" sz="2050" b="1" dirty="0">
                <a:solidFill>
                  <a:srgbClr val="DD6E4E"/>
                </a:solidFill>
              </a:rPr>
              <a:t>「できたのかけら」</a:t>
            </a:r>
            <a:endParaRPr lang="en-US" sz="1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i="1" dirty="0">
                <a:solidFill>
                  <a:srgbClr val="8A7A6C"/>
                </a:solidFill>
              </a:rPr>
              <a:t>小さな「できた」が、未来への道しるべになる。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 STORY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私も「何もしていない」と思っていた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81381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8483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848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2025年11月5日の日記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「欲しいのは、お金？多分違う。」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「私の口癖、何もしていない。」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 rot="180000">
            <a:off x="9183319" y="1746504"/>
            <a:ext cx="2450592" cy="3209544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  <a:effectLst>
            <a:outerShdw sx="100000" sy="100000" kx="0" ky="0" algn="bl" rotWithShape="0" blurRad="101600" dist="38100" dir="5400000">
              <a:srgbClr val="4A3B30">
                <a:alpha val="25000"/>
              </a:srgbClr>
            </a:outerShdw>
          </a:effectLst>
        </p:spPr>
      </p:sp>
      <p:pic>
        <p:nvPicPr>
          <p:cNvPr id="10" name="Image 0" descr="/home/user/dekitanokakera-LM/workshop/images/diary-2025-11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80000">
            <a:off x="9265615" y="1828800"/>
            <a:ext cx="2286000" cy="30449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40080" y="3840480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840480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子育て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2048256" y="3840480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4" name="Text 11"/>
          <p:cNvSpPr/>
          <p:nvPr/>
        </p:nvSpPr>
        <p:spPr>
          <a:xfrm>
            <a:off x="2048256" y="3840480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ジム経営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712464" y="3840480"/>
            <a:ext cx="276148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6" name="Text 13"/>
          <p:cNvSpPr/>
          <p:nvPr/>
        </p:nvSpPr>
        <p:spPr>
          <a:xfrm>
            <a:off x="3712464" y="384048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パワーリフティング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4434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毎日やることはたくさんある。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40080" y="507492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6"/>
          <p:cNvSpPr/>
          <p:nvPr/>
        </p:nvSpPr>
        <p:spPr>
          <a:xfrm>
            <a:off x="960120" y="507492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それでも一日の終わりには、</a:t>
            </a:r>
            <a:endParaRPr lang="en-US" sz="18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「今日も何もできなかった。」</a:t>
            </a:r>
            <a:endParaRPr lang="en-US" sz="1850" dirty="0"/>
          </a:p>
        </p:txBody>
      </p:sp>
      <p:sp>
        <p:nvSpPr>
          <p:cNvPr id="20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84368" y="502920"/>
            <a:ext cx="822960" cy="82296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4" name="Text 2"/>
          <p:cNvSpPr/>
          <p:nvPr/>
        </p:nvSpPr>
        <p:spPr>
          <a:xfrm>
            <a:off x="5684368" y="502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9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でも、本当に欲しかったのは、</a:t>
            </a:r>
            <a:endParaRPr lang="en-US" sz="195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9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お金でも、完璧な自分でもありませんでした。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2194560" y="2606040"/>
            <a:ext cx="7802575" cy="1051560"/>
          </a:xfrm>
          <a:prstGeom prst="roundRect">
            <a:avLst>
              <a:gd name="adj" fmla="val 10435"/>
            </a:avLst>
          </a:prstGeom>
          <a:solidFill>
            <a:srgbClr val="FDEEE7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2606040"/>
            <a:ext cx="7802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DD6E4E"/>
                </a:solidFill>
              </a:rPr>
              <a:t>「私にもできた。」</a:t>
            </a:r>
            <a:endParaRPr lang="en-US" sz="3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そう、自分自身で思えること。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9997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そして気づきました。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4A3B30"/>
                </a:solidFill>
              </a:rPr>
              <a:t>何もしていなかったんじゃない。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DD6E4E"/>
                </a:solidFill>
              </a:rPr>
              <a:t>自分の「できた」に気づいていなかっただけ。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①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目標が大きすぎる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「毎日30分やる！」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77258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43018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0178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できない日が来る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8677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14437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51597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0になる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44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②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できなかったことばかり見る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3474720"/>
            <a:ext cx="9448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9個できても、1個できなかったら、</a:t>
            </a:r>
            <a:endParaRPr lang="en-US" sz="22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「今日もダメだった」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44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③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止まる＝失敗になっている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1日できない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77258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43018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0178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「また続かなかった」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8677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14437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51597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全部やめる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34924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だから必要なのは、もっと頑張ることではありません。「戻り方」を知ること。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44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目標達成を遠ざける3つの思い込み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「続けられる人は、意志が強い」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303520" y="1783080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1783080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意志ではなく、続けやすい仕組みをつくる。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752344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「私は続けられない人」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754880" y="2752344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5303520" y="2752344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577840" y="2752344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続かなかった方法が、あなたに合っていなかっただけかもしれない。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721608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「忙しいから今は無理」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54880" y="3721608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303520" y="3721608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5577840" y="3721608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時間ができるのを待つのではなく、今の生活に入る大きさにする。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473659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必要なのは「もっと頑張れる私」ではない。今の私でも進める方法をつくること。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44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目標にも「今持てる重さ」がある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いきなり100kgのバーベルを渡されて、「頑張って持って！」と言われても、持てません。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C9BB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100kg</a:t>
            </a:r>
            <a:endParaRPr lang="en-US" sz="275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そのままでは持てない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13684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9" name="Text 7"/>
          <p:cNvSpPr/>
          <p:nvPr/>
        </p:nvSpPr>
        <p:spPr>
          <a:xfrm>
            <a:off x="3413684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20kg</a:t>
            </a:r>
            <a:endParaRPr lang="en-US" sz="2750" dirty="0"/>
          </a:p>
        </p:txBody>
      </p:sp>
      <p:sp>
        <p:nvSpPr>
          <p:cNvPr id="10" name="Text 8"/>
          <p:cNvSpPr/>
          <p:nvPr/>
        </p:nvSpPr>
        <p:spPr>
          <a:xfrm>
            <a:off x="3413684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7288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12" name="Text 10"/>
          <p:cNvSpPr/>
          <p:nvPr/>
        </p:nvSpPr>
        <p:spPr>
          <a:xfrm>
            <a:off x="6187288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22.5kg</a:t>
            </a:r>
            <a:endParaRPr lang="en-US" sz="2750" dirty="0"/>
          </a:p>
        </p:txBody>
      </p:sp>
      <p:sp>
        <p:nvSpPr>
          <p:cNvPr id="13" name="Text 11"/>
          <p:cNvSpPr/>
          <p:nvPr/>
        </p:nvSpPr>
        <p:spPr>
          <a:xfrm>
            <a:off x="6187288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8960891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＋2.5kg</a:t>
            </a:r>
            <a:endParaRPr lang="en-US" sz="2750" dirty="0"/>
          </a:p>
        </p:txBody>
      </p:sp>
      <p:sp>
        <p:nvSpPr>
          <p:cNvPr id="16" name="Text 14"/>
          <p:cNvSpPr/>
          <p:nvPr/>
        </p:nvSpPr>
        <p:spPr>
          <a:xfrm>
            <a:off x="8960891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昨日より、なら？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目標も同じです。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B7A99A"/>
                </a:solidFill>
              </a:rPr>
              <a:t>❌「できない私はダメ」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A7A6C"/>
                </a:solidFill>
              </a:rPr>
              <a:t>ではなく、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50" b="1" dirty="0">
                <a:solidFill>
                  <a:srgbClr val="2F9188"/>
                </a:solidFill>
              </a:rPr>
              <a:t>✅「今の私には重すぎない？」と考える。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大きな目標はそのままでいい。今日持つ重さだけ、小さくする。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44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「いつか」より、今日ひとつ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大きな目標を見ると、「時間ができたら」「もう少し余裕ができたら」「ちゃんと準備できたら」と思ってしまう。</a:t>
            </a:r>
            <a:endParaRPr lang="en-US" sz="1600" dirty="0"/>
          </a:p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DD6E4E"/>
                </a:solidFill>
              </a:rPr>
              <a:t>でも、“いつか”は、なかなか始まらない。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だから考えるのは、「今日の私なら、何ができる？」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52044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2199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423160" y="374904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E1F4F1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374904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00507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12" name="Shape 10"/>
          <p:cNvSpPr/>
          <p:nvPr/>
        </p:nvSpPr>
        <p:spPr>
          <a:xfrm>
            <a:off x="4206240" y="3977640"/>
            <a:ext cx="1554480" cy="822960"/>
          </a:xfrm>
          <a:prstGeom prst="roundRect">
            <a:avLst>
              <a:gd name="adj" fmla="val 13333"/>
            </a:avLst>
          </a:prstGeom>
          <a:solidFill>
            <a:srgbClr val="E1F4F1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3977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78815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5989320" y="342900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3429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準備するだけ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25780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小さくするのは、夢ではない。今日の一歩。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44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1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たとえば「3ヶ月で−3kg」を目指すなら？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10911535" cy="3611880"/>
          </a:xfrm>
          <a:prstGeom prst="roundRect">
            <a:avLst>
              <a:gd name="adj" fmla="val 30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51460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15468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今の自分を知る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97280" y="3931920"/>
            <a:ext cx="99971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仕事・生活・身体・食事。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「この生活の中で何ならできる？」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44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2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すでにある「できた」を見つける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朝食は食べられている。水分は取れている。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週末は歩いている。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0からのスタートではない。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44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3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本当に叶えたい未来を決める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−3kgの先にある、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「お気に入りの服を着て出かけたい」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まで考える。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44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4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今日できる大きさまで分解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 → 1ヶ月 → 1週間 → 今日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今日の一歩だけ小さくする。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44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5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5740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1783080"/>
            <a:ext cx="8442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身体・思考・習慣を見る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4A3B30"/>
                </a:solidFill>
              </a:rPr>
              <a:t>夜、お菓子を食べた。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B7A99A"/>
                </a:solidFill>
              </a:rPr>
              <a:t>❌「私って意志が弱い」ではなく、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0080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疲れていた？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368698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FFF3DA"/>
          </a:solidFill>
          <a:ln/>
        </p:spPr>
      </p:sp>
      <p:sp>
        <p:nvSpPr>
          <p:cNvPr id="14" name="Text 12"/>
          <p:cNvSpPr/>
          <p:nvPr/>
        </p:nvSpPr>
        <p:spPr>
          <a:xfrm>
            <a:off x="4368698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368698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我慢しすぎた？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097317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E1F4F1"/>
          </a:solidFill>
          <a:ln/>
        </p:spPr>
      </p:sp>
      <p:sp>
        <p:nvSpPr>
          <p:cNvPr id="17" name="Text 15"/>
          <p:cNvSpPr/>
          <p:nvPr/>
        </p:nvSpPr>
        <p:spPr>
          <a:xfrm>
            <a:off x="8097317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097317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昼食が少なかった？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44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6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「できた」を記録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10分歩けた。食事を調整できた。野菜を増やせた。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食べすぎても翌日戻れた。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結果が出る前の前進を、なかったことにしない。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44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7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7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止まったら戻る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外食した。体重が増えた。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❌「全部台無し！」ではなく、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「楽しかった。じゃあ今日から戻ろう。」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戻れたことも「できた」。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44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CASE1｜−8.6kg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ダイエットサポートのお客様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3566160"/>
          </a:xfrm>
          <a:prstGeom prst="roundRect">
            <a:avLst>
              <a:gd name="adj" fmla="val 3077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</a:t>
            </a:r>
            <a:endParaRPr lang="en-US" sz="88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達成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6177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でも、変わったのは体重だけではありません。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44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でも、変わったのは体重だけではありません。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8308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54480" y="1783080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階段を軽々登れるようになった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496312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96312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496312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足が攣らなくなった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0080" y="3209544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09544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54480" y="3209544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躊躇していた水泳を始めた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3922776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922776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54480" y="3922776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自分が満足できる食事量が分かった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4636008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63600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554480" y="4636008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「朝、身体が軽い！」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−8.6kgの中には、たくさんの「できた」がある。</a:t>
            </a: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44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最初の一歩は、「パソコンを開くだけ」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開けた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093644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59404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6564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</a:t>
            </a:r>
            <a:endParaRPr lang="en-US" sz="20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912968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78728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5888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</a:t>
            </a:r>
            <a:endParaRPr lang="en-US" sz="20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732291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098051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ECEDFB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211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1週間後までに</a:t>
            </a:r>
            <a:endParaRPr lang="en-US" sz="18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自分で決めた</a:t>
            </a:r>
            <a:endParaRPr lang="en-US" sz="18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課題をクリア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44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11535" cy="2468880"/>
          </a:xfrm>
          <a:prstGeom prst="roundRect">
            <a:avLst>
              <a:gd name="adj" fmla="val 4444"/>
            </a:avLst>
          </a:prstGeom>
          <a:solidFill>
            <a:srgbClr val="ECEDFB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011680"/>
            <a:ext cx="999713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さらに、</a:t>
            </a:r>
            <a:endParaRPr lang="en-US" sz="17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500" b="1" dirty="0">
                <a:solidFill>
                  <a:srgbClr val="6B74C4"/>
                </a:solidFill>
              </a:rPr>
              <a:t>正しく立つ → 身体が安定 → 落ち着いて考えやすい</a:t>
            </a:r>
            <a:endParaRPr lang="en-US" sz="17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3B30"/>
                </a:solidFill>
              </a:rPr>
              <a:t>という感覚を体験。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身体・思考・習慣を一緒に整えることで、「動けない」が「できた」に変わった。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44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11535" cy="1417320"/>
          </a:xfrm>
          <a:prstGeom prst="roundRect">
            <a:avLst>
              <a:gd name="adj" fmla="val 7742"/>
            </a:avLst>
          </a:prstGeom>
          <a:solidFill>
            <a:srgbClr val="FFF3D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11680"/>
            <a:ext cx="109115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</a:rPr>
              <a:t>前回より、　</a:t>
            </a:r>
            <a:pPr algn="ctr" indent="0" marL="0">
              <a:buNone/>
            </a:pPr>
            <a:r>
              <a:rPr lang="en-US" sz="4400" b="1" dirty="0">
                <a:solidFill>
                  <a:srgbClr val="CE9A2E"/>
                </a:solidFill>
              </a:rPr>
              <a:t>＋2.5kg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今日も練習できた。フォームが少し良くなった。失敗の原因が分かった。</a:t>
            </a:r>
            <a:endParaRPr lang="en-US" sz="20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その積み重ねを11年以上。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44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272888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15488" y="2286000"/>
            <a:ext cx="2468880" cy="30632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pic>
        <p:nvPicPr>
          <p:cNvPr id="7" name="Image 0" descr="/home/user/dekitanokakera-LM/workshop/images/achievement-nantan-podi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1208" y="2331720"/>
            <a:ext cx="2377440" cy="2971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2423160"/>
            <a:ext cx="2026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全日本57kg級・52kg級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05840" y="3337560"/>
            <a:ext cx="2026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日本一</a:t>
            </a:r>
            <a:endParaRPr lang="en-US" sz="2700" dirty="0"/>
          </a:p>
        </p:txBody>
      </p:sp>
      <p:sp>
        <p:nvSpPr>
          <p:cNvPr id="10" name="Shape 7"/>
          <p:cNvSpPr/>
          <p:nvPr/>
        </p:nvSpPr>
        <p:spPr>
          <a:xfrm>
            <a:off x="6278728" y="2103120"/>
            <a:ext cx="5272888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02725" y="2286000"/>
            <a:ext cx="2320290" cy="3063240"/>
          </a:xfrm>
          <a:prstGeom prst="roundRect">
            <a:avLst>
              <a:gd name="adj" fmla="val 118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pic>
        <p:nvPicPr>
          <p:cNvPr id="12" name="Image 1" descr="/home/user/dekitanokakera-LM/workshop/images/achievement-squat-reco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445" y="2331720"/>
            <a:ext cx="2228850" cy="29718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44488" y="2423160"/>
            <a:ext cx="21753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スクワット142.5kg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644488" y="3337560"/>
            <a:ext cx="21753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日本記録</a:t>
            </a:r>
            <a:endParaRPr lang="en-US" sz="2700" dirty="0"/>
          </a:p>
        </p:txBody>
      </p:sp>
      <p:sp>
        <p:nvSpPr>
          <p:cNvPr id="15" name="Shape 11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6" name="Text 12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大きな結果は、数えきれない「できた」の集合体。</a:t>
            </a:r>
            <a:endParaRPr lang="en-US" sz="1850" dirty="0"/>
          </a:p>
        </p:txBody>
      </p:sp>
      <p:sp>
        <p:nvSpPr>
          <p:cNvPr id="17" name="Text 13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44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1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今、叶えたいことは？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44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2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それを叶えたら、何が嬉しい？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44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3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すでにできていることは？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44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4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1874520"/>
          </a:xfrm>
          <a:prstGeom prst="roundRect">
            <a:avLst>
              <a:gd name="adj" fmla="val 5854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2890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6289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0309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今日なら何ができる？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3452774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4251960"/>
            <a:ext cx="10911535" cy="1691640"/>
          </a:xfrm>
          <a:prstGeom prst="roundRect">
            <a:avLst>
              <a:gd name="adj" fmla="val 6486"/>
            </a:avLst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4251960"/>
            <a:ext cx="101800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4A3B30"/>
                </a:solidFill>
              </a:rPr>
              <a:t>ポイントは、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❌「頑張ればできる」ではなく、「これならできる」まで小さくすること。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そして今できるなら、やってみる。「できた！」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DD6E4E"/>
                </a:solidFill>
              </a:rPr>
              <a:t>それが今日の、最初のできたのかけら。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44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「できた」を生む3つの土台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 × 思考 × 習慣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DEEE7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896112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「今の私」に戻る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正しく立つ。呼吸する。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ゆるめる。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自分の状態を感じる。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53458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FF3DA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9490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609490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09490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4609490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「進む方向」を決める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09490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何を叶えたい？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なぜ叶えたい？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今の私がやることは？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66837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E1F4F1"/>
          </a:solidFill>
          <a:ln/>
        </p:spPr>
      </p:sp>
      <p:sp>
        <p:nvSpPr>
          <p:cNvPr id="18" name="Shape 16"/>
          <p:cNvSpPr/>
          <p:nvPr/>
        </p:nvSpPr>
        <p:spPr>
          <a:xfrm>
            <a:off x="8322869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19" name="Text 17"/>
          <p:cNvSpPr/>
          <p:nvPr/>
        </p:nvSpPr>
        <p:spPr>
          <a:xfrm>
            <a:off x="8322869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22869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8322869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「また戻れる」をつくる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2869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いつやる？どれくらいやる？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できない日は？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止まったらどう戻る？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そして真ん中に、「できたのかけら」。頑張って動くのではなく、動ける私を整える。</a:t>
            </a:r>
            <a:endParaRPr lang="en-US" sz="18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44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90日後、手に入るのは「戻れる私」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90日間で目指すのは、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12080" cy="1005840"/>
          </a:xfrm>
          <a:prstGeom prst="roundRect">
            <a:avLst>
              <a:gd name="adj" fmla="val 10909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B7A99A"/>
                </a:solidFill>
              </a:rPr>
              <a:t>❌ </a:t>
            </a:r>
            <a:pPr indent="0" marL="0">
              <a:buNone/>
            </a:pPr>
            <a:r>
              <a:rPr lang="en-US" sz="1850" b="1" dirty="0">
                <a:solidFill>
                  <a:srgbClr val="8A7A6C"/>
                </a:solidFill>
              </a:rPr>
              <a:t>一度も止まらない私</a:t>
            </a:r>
            <a:endParaRPr lang="en-US" sz="1850" dirty="0"/>
          </a:p>
          <a:p>
            <a:pPr indent="0" marL="0">
              <a:buNone/>
            </a:pPr>
            <a:r>
              <a:rPr lang="en-US" sz="1500" dirty="0">
                <a:solidFill>
                  <a:srgbClr val="B7A99A"/>
                </a:solidFill>
              </a:rPr>
              <a:t>ではありません。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897880" y="214884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400800" y="2148840"/>
            <a:ext cx="5150815" cy="1005840"/>
          </a:xfrm>
          <a:prstGeom prst="roundRect">
            <a:avLst>
              <a:gd name="adj" fmla="val 10909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6720840" y="2148840"/>
            <a:ext cx="45107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DD6E4E"/>
                </a:solidFill>
              </a:rPr>
              <a:t>✅ 止まっても、</a:t>
            </a:r>
            <a:endParaRPr lang="en-US" sz="1850" dirty="0"/>
          </a:p>
          <a:p>
            <a:pPr indent="0" marL="0">
              <a:buNone/>
            </a:pPr>
            <a:r>
              <a:rPr lang="en-US" sz="1850" b="1" dirty="0">
                <a:solidFill>
                  <a:srgbClr val="DD6E4E"/>
                </a:solidFill>
              </a:rPr>
              <a:t>自分で戻れる私。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10911535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520440"/>
            <a:ext cx="10911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もし1日1つ、「できた」を見つけたら、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4600" b="1" dirty="0">
                <a:solidFill>
                  <a:srgbClr val="F0876A"/>
                </a:solidFill>
              </a:rPr>
              <a:t>1日 × 90日 ＝ 90個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の「できた」の証拠。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44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8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「戻れる私」になると、口ぐせが変わる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3ECE3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57400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B7A99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57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35584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「私は続かない」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014216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「何からやればいい？」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4672584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「また失敗したらどうしよう」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70168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DEEE7"/>
          </a:solidFill>
          <a:ln/>
        </p:spPr>
      </p:sp>
      <p:sp>
        <p:nvSpPr>
          <p:cNvPr id="12" name="Shape 10"/>
          <p:cNvSpPr/>
          <p:nvPr/>
        </p:nvSpPr>
        <p:spPr>
          <a:xfrm>
            <a:off x="6690208" y="2057400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13" name="Text 11"/>
          <p:cNvSpPr/>
          <p:nvPr/>
        </p:nvSpPr>
        <p:spPr>
          <a:xfrm>
            <a:off x="6690208" y="205740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90208" y="2697480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「今日はここまでできた」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90208" y="3227832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「今回は何があった？」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690208" y="3758184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「じゃあ次はどうする？」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90208" y="4288536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「今の私はこれをやろう」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90208" y="4818888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「大丈夫。私はまた戻れる。」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821528" y="33832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7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44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動ける土台をつくる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2968691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呼吸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187574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7406457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7" name="Text 15"/>
          <p:cNvSpPr/>
          <p:nvPr/>
        </p:nvSpPr>
        <p:spPr>
          <a:xfrm>
            <a:off x="9625340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身体から最初の「できた」をつくる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44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「今日はこれ」を決める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58963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7846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96729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3D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15612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37947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自分で決める。やってみる。できた。</a:t>
            </a:r>
            <a:endParaRPr lang="en-US" sz="1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「私は自分の判断を信用していい」へ。</a:t>
            </a:r>
            <a:endParaRPr lang="en-US" sz="185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自分で決めて、やってみる経験を積み重ねる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 / 44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戻る仕組みをつくる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なぜ止まった？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13684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5124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何を変える？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87288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78728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次はどうする？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E1F4F1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331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また戻る。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3794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身体で戻る。思考で決める。習慣でまた戻る。</a:t>
            </a:r>
            <a:endParaRPr lang="en-US" sz="1850" dirty="0"/>
          </a:p>
        </p:txBody>
      </p:sp>
      <p:sp>
        <p:nvSpPr>
          <p:cNvPr id="17" name="Shape 1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そのすべてをつなぐのが、「できたのかけら」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 / 44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90日間、一人で頑張らなくていい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 ― 小さな「できた」から、自分を信じて目標を叶える90日間 ―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DEEE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1ヶ月目｜身体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身体の現在地を知る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身体から「できた」をつくる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53458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FF3DA"/>
          </a:solidFill>
          <a:ln/>
        </p:spPr>
      </p:sp>
      <p:sp>
        <p:nvSpPr>
          <p:cNvPr id="12" name="Text 10"/>
          <p:cNvSpPr/>
          <p:nvPr/>
        </p:nvSpPr>
        <p:spPr>
          <a:xfrm>
            <a:off x="4582058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2ヶ月目｜思考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82058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82058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本当に叶えたい目標を決める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82058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82058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目標を「今日の一歩」まで小さくする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66837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E1F4F1"/>
          </a:solidFill>
          <a:ln/>
        </p:spPr>
      </p:sp>
      <p:sp>
        <p:nvSpPr>
          <p:cNvPr id="18" name="Text 16"/>
          <p:cNvSpPr/>
          <p:nvPr/>
        </p:nvSpPr>
        <p:spPr>
          <a:xfrm>
            <a:off x="8295437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3ヶ月目｜習慣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95437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5437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私の「止まるパターン」を知る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95437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95437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「またできる」私の取扱説明書をつくる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" y="41605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月2回 × 3ヶ月 ＝ 全6回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FDEEE7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617720"/>
            <a:ext cx="10180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でも主役は、講義と講義の間にある日常。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A3B30"/>
                </a:solidFill>
              </a:rPr>
              <a:t>学ぶ → やる → 止まる → 相談する → 変える → 戻る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8A7A6C"/>
                </a:solidFill>
              </a:rPr>
              <a:t>この経験を90日間積み重ねます。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34 / 44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止まった日にこそ、ひとりにしない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「戻るため」の5つのサポート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56330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7" name="Text 5"/>
          <p:cNvSpPr/>
          <p:nvPr/>
        </p:nvSpPr>
        <p:spPr>
          <a:xfrm>
            <a:off x="1356330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個別セッション3回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現在地→軌道修正→90日間の振り返り。「私の場合は？」を一緒に整理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58963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5213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213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🌅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96123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96123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身体を整え、その日最初の「できた」をつくる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77846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94096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7" name="Text 15"/>
          <p:cNvSpPr/>
          <p:nvPr/>
        </p:nvSpPr>
        <p:spPr>
          <a:xfrm>
            <a:off x="5794096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215006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15006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自分では見えない「できた」を、仲間と見つける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96729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2979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2" name="Text 20"/>
          <p:cNvSpPr/>
          <p:nvPr/>
        </p:nvSpPr>
        <p:spPr>
          <a:xfrm>
            <a:off x="8012979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33889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33889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成功報告だけじゃない。「止まってます」と言っていい場所。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515612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231862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7" name="Text 25"/>
          <p:cNvSpPr/>
          <p:nvPr/>
        </p:nvSpPr>
        <p:spPr>
          <a:xfrm>
            <a:off x="10231862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🎥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652772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52772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参加できなかった日も、あとから戻れる。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すべてのサポートの目的は一つ。「止まっても、また戻れる」ため。</a:t>
            </a:r>
            <a:endParaRPr lang="en-US" sz="1850" dirty="0"/>
          </a:p>
        </p:txBody>
      </p:sp>
      <p:sp>
        <p:nvSpPr>
          <p:cNvPr id="32" name="Text 3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 / 44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90日後の「私なら、またできる」へ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　小さな「できた」から、自分を信じて目標を叶える90日間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34440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全6回／各90分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827368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　3回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34440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233008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5888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27368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できたのかけら報告コミュニティ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40080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34440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オープンチャット伴走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6233008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27368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10911535" cy="1508760"/>
          </a:xfrm>
          <a:prstGeom prst="roundRect">
            <a:avLst>
              <a:gd name="adj" fmla="val 7273"/>
            </a:avLst>
          </a:prstGeom>
          <a:solidFill>
            <a:srgbClr val="FDEEE7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5840" y="45720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DD6E4E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第1期募集　限定5名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05840" y="516636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一人ひとりの目標と、「できたのかけら」をちゃんと見つけながら伴走したいから。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 / 44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参加費の前に、知っておいてほしいこと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身体・思考・習慣を一緒に整える、伴走型のプログラム。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911535" cy="2011680"/>
          </a:xfrm>
          <a:prstGeom prst="roundRect">
            <a:avLst>
              <a:gd name="adj" fmla="val 5455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8600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8A7A6C"/>
                </a:solidFill>
              </a:rPr>
              <a:t>一般的には、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5200" b="1" dirty="0">
                <a:solidFill>
                  <a:srgbClr val="B7A99A"/>
                </a:solidFill>
              </a:rPr>
              <a:t>40万円 〜 60万円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8A7A6C"/>
                </a:solidFill>
              </a:rPr>
              <a:t>ほどかかることが多い金額です。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6634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けれど、今回は――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37 / 44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1554480"/>
          </a:xfrm>
          <a:prstGeom prst="roundRect">
            <a:avLst>
              <a:gd name="adj" fmla="val 7059"/>
            </a:avLst>
          </a:prstGeom>
          <a:solidFill>
            <a:srgbClr val="FFF3D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10911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CE9A2E"/>
                </a:solidFill>
              </a:rPr>
              <a:t>298,000</a:t>
            </a:r>
            <a:pPr algn="ctr" indent="0" marL="0">
              <a:buNone/>
            </a:pPr>
            <a:r>
              <a:rPr lang="en-US" sz="3000" b="1" dirty="0">
                <a:solidFill>
                  <a:srgbClr val="CE9A2E"/>
                </a:solidFill>
              </a:rPr>
              <a:t>円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1188720" y="3703320"/>
            <a:ext cx="98142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これは、6回の講義を聞くためだけの90日間ではありません。</a:t>
            </a:r>
            <a:endParaRPr lang="en-US" sz="185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2300" b="1" dirty="0">
                <a:solidFill>
                  <a:srgbClr val="DD6E4E"/>
                </a:solidFill>
              </a:rPr>
              <a:t>できる。止まる。相談する。変える。戻る。</a:t>
            </a:r>
            <a:endParaRPr lang="en-US" sz="185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その経験を積み重ね、「私は私を信用していい」を育てる90日間です。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38 / 44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今日中のお申し込み・ご入金で、さらに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2880360"/>
          </a:xfrm>
          <a:prstGeom prst="roundRect">
            <a:avLst>
              <a:gd name="adj" fmla="val 3810"/>
            </a:avLst>
          </a:prstGeom>
          <a:solidFill>
            <a:srgbClr val="FDEEE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10911535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400" strike="sngStrike" dirty="0">
                <a:solidFill>
                  <a:srgbClr val="B7A99A"/>
                </a:solidFill>
              </a:rPr>
              <a:t>298,000円</a:t>
            </a:r>
            <a:endParaRPr lang="en-US" sz="2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F0876A"/>
                </a:solidFill>
              </a:rPr>
              <a:t>↓</a:t>
            </a:r>
            <a:endParaRPr lang="en-US" sz="2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6800" b="1" dirty="0">
                <a:solidFill>
                  <a:srgbClr val="DD6E4E"/>
                </a:solidFill>
              </a:rPr>
              <a:t>248,000</a:t>
            </a:r>
            <a:pPr algn="ctr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DD6E4E"/>
                </a:solidFill>
              </a:rPr>
              <a:t>円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901288" y="480060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DD6E4E"/>
          </a:solidFill>
          <a:ln/>
        </p:spPr>
      </p:sp>
      <p:sp>
        <p:nvSpPr>
          <p:cNvPr id="7" name="Text 5"/>
          <p:cNvSpPr/>
          <p:nvPr/>
        </p:nvSpPr>
        <p:spPr>
          <a:xfrm>
            <a:off x="3901288" y="48006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本日中のお申し込み・ご入金限定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 / 44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「私にもできる？」と思っているあなたへ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1325880" y="1783080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私にもできますか？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80560" y="1783080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983480" y="1783080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「これならできる」から始めます。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2633472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33472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11" name="Text 9"/>
          <p:cNvSpPr/>
          <p:nvPr/>
        </p:nvSpPr>
        <p:spPr>
          <a:xfrm>
            <a:off x="1325880" y="2633472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忙しくても大丈夫？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80560" y="2633472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83480" y="2633472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今の生活に入る大きさを一緒に探します。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40080" y="3483864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83864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16" name="Text 14"/>
          <p:cNvSpPr/>
          <p:nvPr/>
        </p:nvSpPr>
        <p:spPr>
          <a:xfrm>
            <a:off x="1325880" y="3483864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また止まったら？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80560" y="3483864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83480" y="3483864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止まってください。そこから戻る練習をします。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0080" y="4334256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334256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1325880" y="4334256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結果が出なかったら？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480560" y="4334256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983480" y="4334256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結果だけではなく、この先も使える「自分の進み方」をつくります。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640080" y="5184648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84648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一人でやってみてもいい？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80560" y="5184648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983480" y="5184648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もちろんです。でも、一人で何度も止まってきたなら、「環境を変える」ことも一つの選択です。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/ 44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参加者限定特典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ワークシート＆7STEPチェックシートを</a:t>
            </a:r>
            <a:endParaRPr lang="en-US" sz="27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プレゼント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10896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pic>
        <p:nvPicPr>
          <p:cNvPr id="6" name="Image 0" descr="/home/user/dekitanokakera-LM/workshop/images/gift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31720"/>
            <a:ext cx="2926080" cy="2926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0" y="2331720"/>
            <a:ext cx="7436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今日のワークで使った「4つの問い」と、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「できた」を結果につなげる7STEPを、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1枚（2ページ）のPDFにまとめました。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4114800" y="3977640"/>
            <a:ext cx="7436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QRコードを読み取って、お受け取りください。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0" name="Text 7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今日の「できた」を、明日のあなたにも思い出させてあげてください。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41 / 44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参加者限定特典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講師との15分間、個別ミニ相談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11535" cy="1417320"/>
          </a:xfrm>
          <a:prstGeom prst="roundRect">
            <a:avLst>
              <a:gd name="adj" fmla="val 7742"/>
            </a:avLst>
          </a:prstGeom>
          <a:solidFill>
            <a:srgbClr val="FDEEE7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2148840"/>
            <a:ext cx="868680" cy="86868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488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💬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2194560" y="1874520"/>
            <a:ext cx="89912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参加者限定で、講師と1対1で話せる15分間。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あなたの「今」に合わせて、一緒に考えます。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3484778" cy="1417320"/>
          </a:xfrm>
          <a:prstGeom prst="roundRect">
            <a:avLst>
              <a:gd name="adj" fmla="val 7742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89861" y="3858768"/>
            <a:ext cx="585216" cy="585216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2089861" y="385876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77240" y="4526280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自分に合った目標の</a:t>
            </a:r>
            <a:endParaRPr lang="en-US" sz="13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立て方を相談したい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353458" y="3657600"/>
            <a:ext cx="3484778" cy="1417320"/>
          </a:xfrm>
          <a:prstGeom prst="roundRect">
            <a:avLst>
              <a:gd name="adj" fmla="val 7742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03240" y="3858768"/>
            <a:ext cx="585216" cy="585216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5803240" y="385876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🧭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490618" y="4526280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今、何から始めれば</a:t>
            </a:r>
            <a:endParaRPr lang="en-US" sz="13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いいか分からない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066837" y="3657600"/>
            <a:ext cx="3484778" cy="1417320"/>
          </a:xfrm>
          <a:prstGeom prst="roundRect">
            <a:avLst>
              <a:gd name="adj" fmla="val 7742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16618" y="3858768"/>
            <a:ext cx="585216" cy="585216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516618" y="385876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203997" y="4526280"/>
            <a:ext cx="3210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続かなかった過去を</a:t>
            </a:r>
            <a:endParaRPr lang="en-US" sz="13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どう活かせばいいか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40080" y="534924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534924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予約方法は、ワークショップ当日にご案内します。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 / 44</a:t>
            </a:r>
            <a:endParaRPr lang="en-US" sz="11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1463040"/>
            <a:ext cx="99971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050" dirty="0">
                <a:solidFill>
                  <a:srgbClr val="4A3B30"/>
                </a:solidFill>
              </a:rPr>
              <a:t>この90日間、一度も止まらなくていい。完璧じゃなくていい。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050" dirty="0">
                <a:solidFill>
                  <a:srgbClr val="4A3B30"/>
                </a:solidFill>
              </a:rPr>
              <a:t>できない日があっていい。迷っていい。誰かに頼っていい。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50" dirty="0">
                <a:solidFill>
                  <a:srgbClr val="8A7A6C"/>
                </a:solidFill>
              </a:rPr>
              <a:t>ただ、一つだけ。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550" b="1" dirty="0">
                <a:solidFill>
                  <a:srgbClr val="DD6E4E"/>
                </a:solidFill>
              </a:rPr>
              <a:t>止まっても、また戻ってくる。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50" dirty="0">
                <a:solidFill>
                  <a:srgbClr val="8A7A6C"/>
                </a:solidFill>
              </a:rPr>
              <a:t>そして戻ってきたとき、一緒に言いましょう。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3000" b="1" dirty="0">
                <a:solidFill>
                  <a:srgbClr val="4A3B30"/>
                </a:solidFill>
              </a:rPr>
              <a:t>「戻ってこられた。今日も一つ、できた。」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43 / 44</a:t>
            </a:r>
            <a:endParaRPr lang="en-US" sz="11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-1097280" y="-1005840"/>
            <a:ext cx="2743200" cy="274320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10058400" y="484632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320000">
            <a:off x="10241280" y="-1097280"/>
            <a:ext cx="1828800" cy="1828800"/>
          </a:xfrm>
          <a:prstGeom prst="hexagon">
            <a:avLst/>
          </a:prstGeom>
          <a:solidFill>
            <a:srgbClr val="2F9188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 小さな「できた」から、自分を信じて目標を叶える90日間 ―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第1期｜限定5名　90日間　298,000円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そして最後は、この言葉で。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「私なら、またできる。」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731520" y="47091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小さな「できた」が、あなたの未来への道しるべになる。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44 / 44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2026-08-31T06:41:09Z</dcterms:created>
  <dcterms:modified xsi:type="dcterms:W3CDTF">2026-08-31T06:41:09Z</dcterms:modified>
</cp:coreProperties>
</file>