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1005840" y="-91440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9692640" y="-1188720"/>
            <a:ext cx="2377440" cy="237744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200000">
            <a:off x="10607040" y="5120640"/>
            <a:ext cx="2743200" cy="2743200"/>
          </a:xfrm>
          <a:prstGeom prst="hexagon">
            <a:avLst/>
          </a:prstGeom>
          <a:solidFill>
            <a:srgbClr val="6B74C4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600000">
            <a:off x="-1280160" y="4937760"/>
            <a:ext cx="2194560" cy="2194560"/>
          </a:xfrm>
          <a:prstGeom prst="hexagon">
            <a:avLst/>
          </a:prstGeom>
          <a:solidFill>
            <a:srgbClr val="2F9188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1800000">
            <a:off x="5120640" y="6035040"/>
            <a:ext cx="1280160" cy="1280160"/>
          </a:xfrm>
          <a:prstGeom prst="hexagon">
            <a:avLst/>
          </a:prstGeom>
          <a:solidFill>
            <a:srgbClr val="5E9E5B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413248" y="566928"/>
            <a:ext cx="777240" cy="777240"/>
          </a:xfrm>
          <a:prstGeom prst="ellipse">
            <a:avLst/>
          </a:prstGeom>
          <a:solidFill>
            <a:srgbClr val="3A2E26"/>
          </a:solidFill>
          <a:ln/>
        </p:spPr>
      </p:sp>
      <p:sp>
        <p:nvSpPr>
          <p:cNvPr id="8" name="Text 6"/>
          <p:cNvSpPr/>
          <p:nvPr/>
        </p:nvSpPr>
        <p:spPr>
          <a:xfrm>
            <a:off x="5413248" y="566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9月9日（水）10:00〜11:30　｜　オンライン（Zoom）　｜　参加費：無料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10725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「私、ちゃんと進んでた」に気づく90分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31520" y="3127248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280160" y="4370832"/>
            <a:ext cx="9628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「頑張ってるはずなのに、なんだか進んでない気がする…」</a:t>
            </a:r>
            <a:endParaRPr lang="en-US" sz="15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そんな方と一緒に、自分の中にもうある小さな「できた」を見つけて、</a:t>
            </a:r>
            <a:endParaRPr lang="en-US" sz="1500" dirty="0"/>
          </a:p>
          <a:p>
            <a:pPr algn="ctr" indent="0" marL="0">
              <a:lnSpc>
                <a:spcPts val="2500"/>
              </a:lnSpc>
              <a:buNone/>
            </a:pPr>
            <a:r>
              <a:rPr lang="en-US" sz="15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「あれ？私、ちゃんと進んでた！」に気づく90分にしたいと思っています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6291072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できたのかけら診断 ── ワークショップ編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OPENING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「今日も何もできなかった」と</a:t>
            </a:r>
            <a:endParaRPr lang="en-US" sz="27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思っていませんか？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頑張っているのに、なぜか前に進んでいる気がしない。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62429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2062429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目標を立てても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3458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75808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5775808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0618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「またできなかった」と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自分を責める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66837" y="2514600"/>
            <a:ext cx="3484778" cy="1371600"/>
          </a:xfrm>
          <a:prstGeom prst="roundRect">
            <a:avLst>
              <a:gd name="adj" fmla="val 8000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489186" y="2715768"/>
            <a:ext cx="640080" cy="64008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9489186" y="2715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👀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03997" y="3429000"/>
            <a:ext cx="32104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周りの「できた」ばかり</a:t>
            </a:r>
            <a:endParaRPr lang="en-US" sz="12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目に入る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60520"/>
            <a:ext cx="101800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DD6E4E"/>
                </a:solidFill>
              </a:rPr>
              <a:t>でも本当に、あなたは「何もできていない」のでしょうか？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今日の90分で見つけるのは、あなたの中に、もうある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DD6E4E"/>
                </a:solidFill>
              </a:rPr>
              <a:t>「できたのかけら」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i="1" dirty="0">
                <a:solidFill>
                  <a:srgbClr val="8A7A6C"/>
                </a:solidFill>
              </a:rPr>
              <a:t>小さな「できた」が、未来への道しるべになる。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MY STORY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私も「何もしていない」と思っていた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911535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8483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84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2025年11月5日の日記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「欲しいのは、お金？多分違う。」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「私の口癖、何もしていない。」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1225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子育て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48256" y="384048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2048256" y="384048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ジム経営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12464" y="3840480"/>
            <a:ext cx="2761488" cy="402336"/>
          </a:xfrm>
          <a:prstGeom prst="roundRect">
            <a:avLst>
              <a:gd name="adj" fmla="val 50000"/>
            </a:avLst>
          </a:prstGeom>
          <a:solidFill>
            <a:srgbClr val="E1F4F1"/>
          </a:solidFill>
          <a:ln/>
        </p:spPr>
      </p:sp>
      <p:sp>
        <p:nvSpPr>
          <p:cNvPr id="14" name="Text 12"/>
          <p:cNvSpPr/>
          <p:nvPr/>
        </p:nvSpPr>
        <p:spPr>
          <a:xfrm>
            <a:off x="3712464" y="384048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パワーリフティング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毎日やることはたくさんある。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507492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それでも一日の終わりには、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「今日も何もできなかった。」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29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FDEEE7"/>
          </a:solidFill>
          <a:ln/>
        </p:spPr>
      </p:sp>
      <p:sp>
        <p:nvSpPr>
          <p:cNvPr id="4" name="Text 2"/>
          <p:cNvSpPr/>
          <p:nvPr/>
        </p:nvSpPr>
        <p:spPr>
          <a:xfrm>
            <a:off x="5684368" y="502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97280" y="155448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でも、本当に欲しかったのは、</a:t>
            </a:r>
            <a:endParaRPr lang="en-US" sz="17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お金でも、完璧な自分でもありませんでした。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94560" y="2606040"/>
            <a:ext cx="7802575" cy="1051560"/>
          </a:xfrm>
          <a:prstGeom prst="roundRect">
            <a:avLst>
              <a:gd name="adj" fmla="val 10435"/>
            </a:avLst>
          </a:prstGeom>
          <a:solidFill>
            <a:srgbClr val="FDEEE7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2606040"/>
            <a:ext cx="7802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DD6E4E"/>
                </a:solidFill>
              </a:rPr>
              <a:t>「私にもできた。」</a:t>
            </a:r>
            <a:endParaRPr lang="en-US" sz="2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B30"/>
                </a:solidFill>
              </a:rPr>
              <a:t>そう、自分自身で思えること。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97280" y="402336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そして気づきました。</a:t>
            </a:r>
            <a:endParaRPr lang="en-US" sz="15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4A3B30"/>
                </a:solidFill>
              </a:rPr>
              <a:t>何もしていなかったんじゃない。</a:t>
            </a:r>
            <a:endParaRPr lang="en-US" sz="15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DD6E4E"/>
                </a:solidFill>
              </a:rPr>
              <a:t>自分の「できた」に気づいていなかっただけ。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29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なぜ続かないのか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続かないのは「意志」のせいじゃない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こんな経験、ありませんか？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484778" cy="2423160"/>
          </a:xfrm>
          <a:prstGeom prst="roundRect">
            <a:avLst>
              <a:gd name="adj" fmla="val 452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30275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目標が大きすぎる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「毎日30分やる！」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できない日が来る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0になる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3458" y="2194560"/>
            <a:ext cx="3484778" cy="2423160"/>
          </a:xfrm>
          <a:prstGeom prst="roundRect">
            <a:avLst>
              <a:gd name="adj" fmla="val 452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2058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13" name="Text 11"/>
          <p:cNvSpPr/>
          <p:nvPr/>
        </p:nvSpPr>
        <p:spPr>
          <a:xfrm>
            <a:off x="4582058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82058" y="3017520"/>
            <a:ext cx="30275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できなかったことばかり見る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2058" y="3611880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9個できても、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1個できなかったら、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「今日もダメだった」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66837" y="2194560"/>
            <a:ext cx="3484778" cy="2423160"/>
          </a:xfrm>
          <a:prstGeom prst="roundRect">
            <a:avLst>
              <a:gd name="adj" fmla="val 452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95437" y="24231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B74C4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95437" y="3017520"/>
            <a:ext cx="30275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止まる＝失敗になっている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95437" y="3611880"/>
            <a:ext cx="30275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1日できない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「また続かなかった」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全部やめる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だから必要なのは、もっと頑張ることではありません。「戻り方」を知ること。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29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目標達成を遠ざける3つの思い込み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A99A"/>
                </a:solidFill>
              </a:rPr>
              <a:t>❌ 思い込み
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8A7A6C"/>
                </a:solidFill>
              </a:rPr>
              <a:t>「続けられる人は、意志が強い」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83080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0876A"/>
                </a:solidFill>
              </a:rPr>
              <a:t>✅ 真実
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DD6E4E"/>
                </a:solidFill>
              </a:rPr>
              <a:t>意志ではなく、続けやすい仕組みをつくる。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752344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75234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A99A"/>
                </a:solidFill>
              </a:rPr>
              <a:t>❌ 思い込み
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8A7A6C"/>
                </a:solidFill>
              </a:rPr>
              <a:t>「私は続けられない人」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2752344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0" y="2752344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2752344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0876A"/>
                </a:solidFill>
              </a:rPr>
              <a:t>✅ 真実
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DD6E4E"/>
                </a:solidFill>
              </a:rPr>
              <a:t>続かなかった方法が、あなたに合っていなかっただけかもしれない。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114800" cy="841248"/>
          </a:xfrm>
          <a:prstGeom prst="roundRect">
            <a:avLst>
              <a:gd name="adj" fmla="val 13043"/>
            </a:avLst>
          </a:prstGeom>
          <a:solidFill>
            <a:srgbClr val="F3ECE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72160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A99A"/>
                </a:solidFill>
              </a:rPr>
              <a:t>❌ 思い込み
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rgbClr val="8A7A6C"/>
                </a:solidFill>
              </a:rPr>
              <a:t>「忙しいから今は無理」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3721608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303520" y="3721608"/>
            <a:ext cx="6248095" cy="841248"/>
          </a:xfrm>
          <a:prstGeom prst="roundRect">
            <a:avLst>
              <a:gd name="adj" fmla="val 13043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3721608"/>
            <a:ext cx="5699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F0876A"/>
                </a:solidFill>
              </a:rPr>
              <a:t>✅ 真実
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DD6E4E"/>
                </a:solidFill>
              </a:rPr>
              <a:t>時間ができるのを待つのではなく、今の生活に入る大きさにする。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7365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必要なのは「もっと頑張れる私」ではない。今の私でも進める方法をつくること。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29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目標にも「今持てる重さ」がある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いきなり100kgのバーベルを渡されて、「頑張って持って！」と言われても、持てません。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B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100kg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そのままでは持てない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3684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9" name="Text 7"/>
          <p:cNvSpPr/>
          <p:nvPr/>
        </p:nvSpPr>
        <p:spPr>
          <a:xfrm>
            <a:off x="3413684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20kg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13684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7288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2" name="Text 10"/>
          <p:cNvSpPr/>
          <p:nvPr/>
        </p:nvSpPr>
        <p:spPr>
          <a:xfrm>
            <a:off x="6187288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22.5kg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187288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960891" y="2624328"/>
            <a:ext cx="2590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＋2.5kg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960891" y="3291840"/>
            <a:ext cx="25907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昨日より、なら？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目標も同じです。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B7A99A"/>
                </a:solidFill>
              </a:rPr>
              <a:t>❌「できない私はダメ」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8A7A6C"/>
                </a:solidFill>
              </a:rPr>
              <a:t>ではなく、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F9188"/>
                </a:solidFill>
              </a:rPr>
              <a:t>✅「今の私には重すぎない？」と考える。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大きな目標はそのままでいい。今日持つ重さだけ、小さくする。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29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「いつか」より、今日ひとつ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4A3B30"/>
                </a:solidFill>
              </a:rPr>
              <a:t>大きな目標を見ると、「時間ができたら」「もう少し余裕ができたら」「ちゃんと準備できたら」と思ってしまう。</a:t>
            </a:r>
            <a:endParaRPr lang="en-US" sz="14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DD6E4E"/>
                </a:solidFill>
              </a:rPr>
              <a:t>でも、“いつか”は、なかなか始まらない。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だから考えるのは、「今日の私なら、何ができる？」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1554480" cy="1280160"/>
          </a:xfrm>
          <a:prstGeom prst="roundRect">
            <a:avLst>
              <a:gd name="adj" fmla="val 8571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52044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2199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23160" y="3749040"/>
            <a:ext cx="1554480" cy="1051560"/>
          </a:xfrm>
          <a:prstGeom prst="roundRect">
            <a:avLst>
              <a:gd name="adj" fmla="val 10435"/>
            </a:avLst>
          </a:prstGeom>
          <a:solidFill>
            <a:srgbClr val="E1F4F1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3749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00507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06240" y="3977640"/>
            <a:ext cx="1554480" cy="822960"/>
          </a:xfrm>
          <a:prstGeom prst="roundRect">
            <a:avLst>
              <a:gd name="adj" fmla="val 13333"/>
            </a:avLst>
          </a:prstGeom>
          <a:solidFill>
            <a:srgbClr val="E1F4F1"/>
          </a:solidFill>
          <a:ln/>
        </p:spPr>
      </p:sp>
      <p:sp>
        <p:nvSpPr>
          <p:cNvPr id="13" name="Text 11"/>
          <p:cNvSpPr/>
          <p:nvPr/>
        </p:nvSpPr>
        <p:spPr>
          <a:xfrm>
            <a:off x="4206240" y="3977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3分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88152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989320" y="3429000"/>
            <a:ext cx="2286000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34290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準備するだけ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257800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小さくするのは、夢ではない。今日の一歩。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29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1 - 2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たとえば「3ヶ月で−3kg」を目指すなら？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318608" cy="3566160"/>
          </a:xfrm>
          <a:prstGeom prst="roundRect">
            <a:avLst>
              <a:gd name="adj" fmla="val 3077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40487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404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今の自分を知る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447288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仕事・生活・身体・食事。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「この生活の中で何ならできる？」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33008" y="2148840"/>
            <a:ext cx="5318608" cy="3566160"/>
          </a:xfrm>
          <a:prstGeom prst="roundRect">
            <a:avLst>
              <a:gd name="adj" fmla="val 3077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07328" y="240487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507328" y="240487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07328" y="292608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すでにある「できた」を見つける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7328" y="3447288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朝食は食べられている。水分は取れている。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週末は歩いている。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0からのスタートではない。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29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3 - 4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318608" cy="3886200"/>
          </a:xfrm>
          <a:prstGeom prst="roundRect">
            <a:avLst>
              <a:gd name="adj" fmla="val 282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848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848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本当に叶えたい未来を決める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127248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−3kgの先にある、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「お気に入りの服を着て出かけたい」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まで考える。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33008" y="1828800"/>
            <a:ext cx="5318608" cy="3886200"/>
          </a:xfrm>
          <a:prstGeom prst="roundRect">
            <a:avLst>
              <a:gd name="adj" fmla="val 282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7328" y="20848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2" name="Text 10"/>
          <p:cNvSpPr/>
          <p:nvPr/>
        </p:nvSpPr>
        <p:spPr>
          <a:xfrm>
            <a:off x="6507328" y="20848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07328" y="260604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今日できる大きさまで分解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07328" y="3127248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 → 1ヶ月 → 1週間 → 今日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大きな目標はそのまま。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今日の一歩だけ小さくする。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29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911535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848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848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1828800"/>
            <a:ext cx="89912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身体・思考・習慣を見る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3017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夜、お菓子を食べた。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7A99A"/>
                </a:solidFill>
              </a:rPr>
              <a:t>❌「私って意志が弱い」ではなく、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178808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70916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疲れていた？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68698" y="397764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FFF3DA"/>
          </a:solidFill>
          <a:ln/>
        </p:spPr>
      </p:sp>
      <p:sp>
        <p:nvSpPr>
          <p:cNvPr id="14" name="Text 12"/>
          <p:cNvSpPr/>
          <p:nvPr/>
        </p:nvSpPr>
        <p:spPr>
          <a:xfrm>
            <a:off x="4368698" y="4178808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368698" y="470916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我慢しすぎた？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97317" y="3977640"/>
            <a:ext cx="3454298" cy="1371600"/>
          </a:xfrm>
          <a:prstGeom prst="roundRect">
            <a:avLst>
              <a:gd name="adj" fmla="val 8000"/>
            </a:avLst>
          </a:prstGeom>
          <a:solidFill>
            <a:srgbClr val="E1F4F1"/>
          </a:solidFill>
          <a:ln/>
        </p:spPr>
      </p:sp>
      <p:sp>
        <p:nvSpPr>
          <p:cNvPr id="17" name="Text 15"/>
          <p:cNvSpPr/>
          <p:nvPr/>
        </p:nvSpPr>
        <p:spPr>
          <a:xfrm>
            <a:off x="8097317" y="4178808"/>
            <a:ext cx="34542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097317" y="470916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昼食が少なかった？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29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　｜　STEP 6 - 7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「できた」を結果につなげる7STEP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318608" cy="3886200"/>
          </a:xfrm>
          <a:prstGeom prst="roundRect">
            <a:avLst>
              <a:gd name="adj" fmla="val 282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848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848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「できた」を記録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127248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10分歩けた。食事を調整できた。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野菜を増やせた。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食べすぎても翌日戻れた。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結果が出る前の前進を、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なかったことにしない。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33008" y="1828800"/>
            <a:ext cx="5318608" cy="3886200"/>
          </a:xfrm>
          <a:prstGeom prst="roundRect">
            <a:avLst>
              <a:gd name="adj" fmla="val 2824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07328" y="20848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2" name="Text 10"/>
          <p:cNvSpPr/>
          <p:nvPr/>
        </p:nvSpPr>
        <p:spPr>
          <a:xfrm>
            <a:off x="6507328" y="20848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 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07328" y="260604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止まったら戻る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07328" y="3127248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外食した。体重が増えた。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↓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❌「全部台無し！」ではなく、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「楽しかった。じゃあ今日から戻ろう。」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戻れたことも「できた」。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29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1 /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CASE1｜−8.6kg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ダイエットサポートのお客様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291840" cy="3703320"/>
          </a:xfrm>
          <a:prstGeom prst="roundRect">
            <a:avLst>
              <a:gd name="adj" fmla="val 3333"/>
            </a:avLst>
          </a:prstGeom>
          <a:solidFill>
            <a:srgbClr val="E1F4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40080" y="3337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達成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160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でも、変わったのは</a:t>
            </a:r>
            <a:endParaRPr lang="en-US" sz="14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体重だけではありません。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2057400"/>
            <a:ext cx="7345375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205740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2057400"/>
            <a:ext cx="6522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階段を軽々登れるようになった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206240" y="2715768"/>
            <a:ext cx="7345375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271576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46320" y="2715768"/>
            <a:ext cx="6522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足が攣らなくなった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206240" y="3374136"/>
            <a:ext cx="7345375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3374136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46320" y="3374136"/>
            <a:ext cx="6522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躊躇していた水泳を始めた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206240" y="4032504"/>
            <a:ext cx="7345375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403250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846320" y="4032504"/>
            <a:ext cx="6522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自分が満足できる食事量が分かった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06240" y="4690872"/>
            <a:ext cx="7345375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469087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846320" y="4690872"/>
            <a:ext cx="652241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「朝、身体が軽い！」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−8.6kgの中には、たくさんの「できた」がある。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29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2 /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CASE2｜「パソコンを開くだけ」から課題達成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最初の一歩は、「パソコンを開くだけ」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5221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2339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開けた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62224" y="214884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36544" y="2148840"/>
            <a:ext cx="25221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7984" y="2148840"/>
            <a:ext cx="2339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</a:t>
            </a:r>
            <a:endParaRPr lang="en-US" sz="15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58688" y="214884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3008" y="2148840"/>
            <a:ext cx="252214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4448" y="2148840"/>
            <a:ext cx="2339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</a:t>
            </a:r>
            <a:endParaRPr lang="en-US" sz="15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取り組めた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755151" y="214884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029471" y="2148840"/>
            <a:ext cx="2522144" cy="1371600"/>
          </a:xfrm>
          <a:prstGeom prst="roundRect">
            <a:avLst>
              <a:gd name="adj" fmla="val 8000"/>
            </a:avLst>
          </a:prstGeom>
          <a:solidFill>
            <a:srgbClr val="ECEDFB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20911" y="2148840"/>
            <a:ext cx="2339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1週間後までに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自分で決めた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6B74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課題をクリア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8A7A6C"/>
                </a:solidFill>
              </a:rPr>
              <a:t>さらに、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B74C4"/>
                </a:solidFill>
              </a:rPr>
              <a:t>正しく立つ → 身体が安定 → 落ち着いて考えやすい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A3B30"/>
                </a:solidFill>
              </a:rPr>
              <a:t>という感覚を体験。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身体・思考・習慣を一緒に整えることで、「動けない」が「できた」に変わった。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29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大きな結果は、小さな「できた」の集合体　｜　CASE 3 /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CASE3｜2.5kgの積み重ねが、日本記録へ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FFF3D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3B30"/>
                </a:solidFill>
              </a:rPr>
              <a:t>前回より、</a:t>
            </a:r>
            <a:endParaRPr lang="en-US" sz="13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CE9A2E"/>
                </a:solidFill>
              </a:rPr>
              <a:t>＋2.5kg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931920" y="1965960"/>
            <a:ext cx="7619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今日も練習できた。フォームが少し良くなった。失敗の原因が分かった。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その積み重ねを11年以上。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531860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29000"/>
            <a:ext cx="476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全日本57kg級・52kg級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76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日本一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33008" y="3429000"/>
            <a:ext cx="531860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7328" y="3429000"/>
            <a:ext cx="476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スクワット142.5kg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07328" y="3429000"/>
            <a:ext cx="47699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日本記録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大きな結果は、数えきれない「できた」の集合体。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29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今度は、あなたの番です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5分で最初の「できたのかけら」をつくろう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318608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38201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82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148840"/>
            <a:ext cx="3947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今、叶えたいことは？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3947008" y="2761488"/>
            <a:ext cx="1645920" cy="0"/>
          </a:xfrm>
          <a:prstGeom prst="line">
            <a:avLst/>
          </a:prstGeom>
          <a:noFill/>
          <a:ln w="1905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33008" y="2148840"/>
            <a:ext cx="5318608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1608" y="238201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61608" y="2382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55968" y="2148840"/>
            <a:ext cx="3947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それを叶えたら、何が嬉しい？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9539935" y="2761488"/>
            <a:ext cx="1645920" cy="0"/>
          </a:xfrm>
          <a:prstGeom prst="line">
            <a:avLst/>
          </a:prstGeom>
          <a:noFill/>
          <a:ln w="1905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18688"/>
            <a:ext cx="5318608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4518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4518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3218688"/>
            <a:ext cx="3947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すでにできていることは？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3947008" y="3831336"/>
            <a:ext cx="1645920" cy="0"/>
          </a:xfrm>
          <a:prstGeom prst="line">
            <a:avLst/>
          </a:prstGeom>
          <a:noFill/>
          <a:ln w="1905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33008" y="3218688"/>
            <a:ext cx="5318608" cy="868680"/>
          </a:xfrm>
          <a:prstGeom prst="roundRect">
            <a:avLst>
              <a:gd name="adj" fmla="val 12632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1608" y="34518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23" name="Text 21"/>
          <p:cNvSpPr/>
          <p:nvPr/>
        </p:nvSpPr>
        <p:spPr>
          <a:xfrm>
            <a:off x="6461608" y="34518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55968" y="3218688"/>
            <a:ext cx="3947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今日なら何ができる？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9539935" y="3831336"/>
            <a:ext cx="1645920" cy="0"/>
          </a:xfrm>
          <a:prstGeom prst="line">
            <a:avLst/>
          </a:prstGeom>
          <a:noFill/>
          <a:ln w="1905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251960"/>
            <a:ext cx="10911535" cy="1691640"/>
          </a:xfrm>
          <a:prstGeom prst="roundRect">
            <a:avLst>
              <a:gd name="adj" fmla="val 6486"/>
            </a:avLst>
          </a:prstGeom>
          <a:solidFill>
            <a:srgbClr val="FDEEE7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4251960"/>
            <a:ext cx="101800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3B30"/>
                </a:solidFill>
              </a:rPr>
              <a:t>ポイントは、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DD6E4E"/>
                </a:solidFill>
              </a:rPr>
              <a:t>❌「頑張ればできる」ではなく、「これならできる」まで小さくすること。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B30"/>
                </a:solidFill>
              </a:rPr>
              <a:t>そして今できるなら、やってみる。「できた！」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DD6E4E"/>
                </a:solidFill>
              </a:rPr>
              <a:t>それが今日の、最初のできたのかけら。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29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「できた」を生む3つの土台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 × 思考 × 習慣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DEEE7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96112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「今の私」に戻る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正しく立つ。呼吸する。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ゆるめる。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3458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FFF3DA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9490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09490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09490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09490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「進む方向」を決める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09490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何を叶えたい？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なぜ叶えたい？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今の私がやることは？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66837" y="2148840"/>
            <a:ext cx="3484778" cy="2743200"/>
          </a:xfrm>
          <a:prstGeom prst="roundRect">
            <a:avLst>
              <a:gd name="adj" fmla="val 4000"/>
            </a:avLst>
          </a:prstGeom>
          <a:solidFill>
            <a:srgbClr val="E1F4F1"/>
          </a:solidFill>
          <a:ln/>
        </p:spPr>
      </p:sp>
      <p:sp>
        <p:nvSpPr>
          <p:cNvPr id="18" name="Shape 16"/>
          <p:cNvSpPr/>
          <p:nvPr/>
        </p:nvSpPr>
        <p:spPr>
          <a:xfrm>
            <a:off x="8322869" y="2404872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19" name="Text 17"/>
          <p:cNvSpPr/>
          <p:nvPr/>
        </p:nvSpPr>
        <p:spPr>
          <a:xfrm>
            <a:off x="8322869" y="2404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2869" y="29718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22869" y="3429000"/>
            <a:ext cx="2972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「また戻れる」をつくる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2869" y="3931920"/>
            <a:ext cx="29727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いつやる？どれくらいやる？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できない日は？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止まったらどう戻る？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そして真ん中に、「できたのかけら」。頑張って動くのではなく、動ける私を整える。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29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90日後、手に入るのは「戻れる私」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90日間で目指すのは、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1005840"/>
          </a:xfrm>
          <a:prstGeom prst="roundRect">
            <a:avLst>
              <a:gd name="adj" fmla="val 10909"/>
            </a:avLst>
          </a:prstGeom>
          <a:solidFill>
            <a:srgbClr val="F3ECE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A99A"/>
                </a:solidFill>
              </a:rPr>
              <a:t>❌ </a:t>
            </a:r>
            <a:pPr indent="0" marL="0">
              <a:buNone/>
            </a:pPr>
            <a:r>
              <a:rPr lang="en-US" sz="1600" b="1" dirty="0">
                <a:solidFill>
                  <a:srgbClr val="8A7A6C"/>
                </a:solidFill>
              </a:rPr>
              <a:t>一度も止まらない私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B7A99A"/>
                </a:solidFill>
              </a:rPr>
              <a:t>ではありません。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97880" y="21488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150815" cy="1005840"/>
          </a:xfrm>
          <a:prstGeom prst="roundRect">
            <a:avLst>
              <a:gd name="adj" fmla="val 10909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6720840" y="2148840"/>
            <a:ext cx="45107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6E4E"/>
                </a:solidFill>
              </a:rPr>
              <a:t>✅ 止まっても、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DD6E4E"/>
                </a:solidFill>
              </a:rPr>
              <a:t>自分で戻れる私。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520440"/>
            <a:ext cx="10911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もし1日1つ、「できた」を見つけたら、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rgbClr val="F0876A"/>
                </a:solidFill>
              </a:rPr>
              <a:t>1日 × 90日 ＝ 90個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A3B30"/>
                </a:solidFill>
              </a:rPr>
              <a:t>の「できた」の証拠。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29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「戻れる私」になると、口ぐせが変わる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3ECE3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B7A99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69748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「またできなかった」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3558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「私は続かない」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014216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「何からやればいい？」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4672584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「また失敗したらどうしよう」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70168" y="1783080"/>
            <a:ext cx="5181448" cy="4206240"/>
          </a:xfrm>
          <a:prstGeom prst="roundRect">
            <a:avLst>
              <a:gd name="adj" fmla="val 2609"/>
            </a:avLst>
          </a:prstGeom>
          <a:solidFill>
            <a:srgbClr val="FDEEE7"/>
          </a:solidFill>
          <a:ln/>
        </p:spPr>
      </p:sp>
      <p:sp>
        <p:nvSpPr>
          <p:cNvPr id="12" name="Shape 10"/>
          <p:cNvSpPr/>
          <p:nvPr/>
        </p:nvSpPr>
        <p:spPr>
          <a:xfrm>
            <a:off x="6690208" y="2057400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13" name="Text 11"/>
          <p:cNvSpPr/>
          <p:nvPr/>
        </p:nvSpPr>
        <p:spPr>
          <a:xfrm>
            <a:off x="6690208" y="20574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90208" y="2697480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「今日はここまでできた」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90208" y="3227832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「今回は何があった？」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0208" y="3758184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「じゃあ次はどうする？」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0208" y="4288536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「今の私はこれをやろう」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90208" y="481888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「大丈夫。私はまた戻れる。」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821528" y="33832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29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F0876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動ける土台をつくる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正しく立つ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1" name="Text 9"/>
          <p:cNvSpPr/>
          <p:nvPr/>
        </p:nvSpPr>
        <p:spPr>
          <a:xfrm>
            <a:off x="2968691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呼吸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3" name="Text 11"/>
          <p:cNvSpPr/>
          <p:nvPr/>
        </p:nvSpPr>
        <p:spPr>
          <a:xfrm>
            <a:off x="5187574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ゆるめる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7406457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スクワット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2011680"/>
          </a:xfrm>
          <a:prstGeom prst="roundRect">
            <a:avLst>
              <a:gd name="adj" fmla="val 5455"/>
            </a:avLst>
          </a:prstGeom>
          <a:solidFill>
            <a:srgbClr val="FDEEE7"/>
          </a:solidFill>
          <a:ln/>
        </p:spPr>
      </p:sp>
      <p:sp>
        <p:nvSpPr>
          <p:cNvPr id="17" name="Text 15"/>
          <p:cNvSpPr/>
          <p:nvPr/>
        </p:nvSpPr>
        <p:spPr>
          <a:xfrm>
            <a:off x="9625340" y="2423160"/>
            <a:ext cx="1816547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自分の状態を感じる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身体から最初の「できた」をつくる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29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CE9A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思考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「今日はこれ」を決める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58963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58963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77846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7846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296729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96729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515612" y="2423160"/>
            <a:ext cx="2036003" cy="1005840"/>
          </a:xfrm>
          <a:prstGeom prst="roundRect">
            <a:avLst>
              <a:gd name="adj" fmla="val 10909"/>
            </a:avLst>
          </a:prstGeom>
          <a:solidFill>
            <a:srgbClr val="FFF3D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5612" y="2423160"/>
            <a:ext cx="203600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自分で決める。やってみる。できた。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A7A6C"/>
                </a:solidFill>
              </a:rPr>
              <a:t>「私は自分の判断を信用していい」へ。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自分で決めて、やってみる経験を積み重ねる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29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「戻れる私」をつくる3つの柱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417320" cy="457200"/>
          </a:xfrm>
          <a:prstGeom prst="roundRect">
            <a:avLst>
              <a:gd name="adj" fmla="val 50000"/>
            </a:avLst>
          </a:prstGeom>
          <a:solidFill>
            <a:srgbClr val="2F918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40280" y="11155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習慣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戻る仕組みをつくる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なぜ止まった？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13684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05124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何を変える？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87288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8728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次はどうする？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0891" y="2423160"/>
            <a:ext cx="2590724" cy="1005840"/>
          </a:xfrm>
          <a:prstGeom prst="roundRect">
            <a:avLst>
              <a:gd name="adj" fmla="val 10909"/>
            </a:avLst>
          </a:prstGeom>
          <a:solidFill>
            <a:srgbClr val="E1F4F1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331" y="2423160"/>
            <a:ext cx="24078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また戻る。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794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身体で戻る。思考で決める。習慣でまた戻る。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そのすべてをつなぐのが、「できたのかけら」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90日間、一人で頑張らなくていい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 ― 小さな「できた」から、自分を信じて目標を叶える90日間 ―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DEEE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1ヶ月目｜身体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身体の現在地を知る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身体から「できた」をつくる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3458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3DA"/>
          </a:solidFill>
          <a:ln/>
        </p:spPr>
      </p:sp>
      <p:sp>
        <p:nvSpPr>
          <p:cNvPr id="12" name="Text 10"/>
          <p:cNvSpPr/>
          <p:nvPr/>
        </p:nvSpPr>
        <p:spPr>
          <a:xfrm>
            <a:off x="4582058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2ヶ月目｜思考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82058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82058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本当に叶えたい目標を決める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82058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82058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目標を「今日の一歩」まで小さくする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66837" y="20116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E1F4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95437" y="2194560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3ヶ月目｜習慣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95437" y="269748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95437" y="291693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私の「止まるパターン」を知る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95437" y="3337560"/>
            <a:ext cx="3027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Lesson 6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95437" y="3557016"/>
            <a:ext cx="30275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「またできる」私の取扱説明書をつくる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41605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月2回 × 3ヶ月 ＝ 全6回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FDEEE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17720"/>
            <a:ext cx="10180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DD6E4E"/>
                </a:solidFill>
              </a:rPr>
              <a:t>でも主役は、講義と講義の間にある日常。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4A3B30"/>
                </a:solidFill>
              </a:rPr>
              <a:t>学ぶ → やる → 止まる → 相談する → 変える → 戻る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8A7A6C"/>
                </a:solidFill>
              </a:rPr>
              <a:t>この経験を90日間積み重ねます。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29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6B74C4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止まった日にこそ、ひとりにしない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「戻るため」の5つのサポート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6330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7" name="Text 5"/>
          <p:cNvSpPr/>
          <p:nvPr/>
        </p:nvSpPr>
        <p:spPr>
          <a:xfrm>
            <a:off x="1356330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個別セッション3回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現在地→軌道修正→90日間の振り返り。「私の場合は？」を一緒に整理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58963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5213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213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96123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96123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身体を整え、その日最初の「できた」をつくる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77846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94096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17" name="Text 15"/>
          <p:cNvSpPr/>
          <p:nvPr/>
        </p:nvSpPr>
        <p:spPr>
          <a:xfrm>
            <a:off x="5794096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5006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5006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自分では見えない「できた」を、仲間と見つける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296729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2979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2" name="Text 20"/>
          <p:cNvSpPr/>
          <p:nvPr/>
        </p:nvSpPr>
        <p:spPr>
          <a:xfrm>
            <a:off x="8012979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433889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33889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成功報告だけじゃない。「止まってます」と言っていい場所。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515612" y="2148840"/>
            <a:ext cx="2036003" cy="2468880"/>
          </a:xfrm>
          <a:prstGeom prst="roundRect">
            <a:avLst>
              <a:gd name="adj" fmla="val 5389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231862" y="2377440"/>
            <a:ext cx="603504" cy="603504"/>
          </a:xfrm>
          <a:prstGeom prst="ellipse">
            <a:avLst/>
          </a:prstGeom>
          <a:solidFill>
            <a:srgbClr val="ECED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231862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🎥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652772" y="3063240"/>
            <a:ext cx="176168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52772" y="3566160"/>
            <a:ext cx="176168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参加できなかった日も、あとから戻れる。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5742432"/>
            <a:ext cx="10911535" cy="658368"/>
          </a:xfrm>
          <a:prstGeom prst="roundRect">
            <a:avLst>
              <a:gd name="adj" fmla="val 19444"/>
            </a:avLst>
          </a:prstGeom>
          <a:solidFill>
            <a:srgbClr val="FDEEE7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" y="5742432"/>
            <a:ext cx="10271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DD6E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すべてのサポートの目的は一つ。「止まっても、また戻れる」ため。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29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90日後の「私なら、またできる」へ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　小さな「できた」から、自分を信じて目標を叶える90日間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グループ講義　全6回／各90分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214884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27368" y="2148840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個別セッション　3回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朝活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233008" y="2807208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5888" y="280720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27368" y="2807208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できたのかけら報告コミュニティ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オープンチャット伴走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233008" y="3465576"/>
            <a:ext cx="5318608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346557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27368" y="3465576"/>
            <a:ext cx="454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講義アーカイブ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508760"/>
          </a:xfrm>
          <a:prstGeom prst="roundRect">
            <a:avLst>
              <a:gd name="adj" fmla="val 7273"/>
            </a:avLst>
          </a:prstGeom>
          <a:solidFill>
            <a:srgbClr val="FDEE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840" y="457200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D6E4E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第1期募集　限定5名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05840" y="516636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一人ひとりの目標と、「できたのかけら」をちゃんと見つけながら伴走したいから。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29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CE9A2E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参加費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11535" cy="1554480"/>
          </a:xfrm>
          <a:prstGeom prst="roundRect">
            <a:avLst>
              <a:gd name="adj" fmla="val 7059"/>
            </a:avLst>
          </a:prstGeom>
          <a:solidFill>
            <a:srgbClr val="FFF3D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10911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E9A2E"/>
                </a:solidFill>
              </a:rPr>
              <a:t>298,000</a:t>
            </a:r>
            <a:pPr algn="ctr" indent="0" marL="0">
              <a:buNone/>
            </a:pPr>
            <a:r>
              <a:rPr lang="en-US" sz="2600" b="1" dirty="0">
                <a:solidFill>
                  <a:srgbClr val="CE9A2E"/>
                </a:solidFill>
              </a:rPr>
              <a:t>円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188720" y="3703320"/>
            <a:ext cx="98142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これは、6回の講義を聞くためだけの90日間ではありません。</a:t>
            </a:r>
            <a:endParaRPr lang="en-US" sz="160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D6E4E"/>
                </a:solidFill>
              </a:rPr>
              <a:t>できる。止まる。相談する。変える。戻る。</a:t>
            </a:r>
            <a:endParaRPr lang="en-US" sz="1600" dirty="0"/>
          </a:p>
          <a:p>
            <a:pPr algn="ctr" indent="0" marL="0">
              <a:lnSpc>
                <a:spcPts val="2400"/>
              </a:lnSpc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4A3B30"/>
                </a:solidFill>
              </a:rPr>
              <a:t>その経験を積み重ね、「私は私を信用していい」を育てる90日間です。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29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0467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「私にもできる？」と思っているあなたへ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私にもできますか？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80560" y="1783080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83480" y="1783080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「これならできる」から始めます。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633472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33472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633472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忙しくても大丈夫？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80560" y="2633472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2633472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今の生活に入る大きさを一緒に探します。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483864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83864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また止まったら？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3483864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483864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止まってください。そこから戻る練習をします。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4334256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34256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5880" y="4334256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結果が出なかったら？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80560" y="4334256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83480" y="4334256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結果だけではなく、この先も使える「自分の進み方」をつくります。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5184648"/>
            <a:ext cx="10911535" cy="758952"/>
          </a:xfrm>
          <a:prstGeom prst="roundRect">
            <a:avLst>
              <a:gd name="adj" fmla="val 14458"/>
            </a:avLst>
          </a:prstGeom>
          <a:solidFill>
            <a:srgbClr val="FFFDFA"/>
          </a:solidFill>
          <a:ln w="12700">
            <a:solidFill>
              <a:srgbClr val="EFE2D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457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1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31089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4A3B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一人でやってみてもいい？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480560" y="5184648"/>
            <a:ext cx="4114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83480" y="5184648"/>
            <a:ext cx="6293815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8A7A6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もちろんです。でも、一人で何度も止まってきたなら、「環境を変える」ことも一つの選択です。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29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A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11109960" y="-685800"/>
            <a:ext cx="1828800" cy="1828800"/>
          </a:xfrm>
          <a:prstGeom prst="hexagon">
            <a:avLst/>
          </a:prstGeom>
          <a:solidFill>
            <a:srgbClr val="F0876A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868680" y="5623560"/>
            <a:ext cx="1737360" cy="1737360"/>
          </a:xfrm>
          <a:prstGeom prst="hexagon">
            <a:avLst/>
          </a:prstGeom>
          <a:solidFill>
            <a:srgbClr val="2F9188">
              <a:alpha val="13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999713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FBEFE4"/>
                </a:solidFill>
              </a:rPr>
              <a:t>この90日間、一度も止まらなくていい。完璧じゃなくていい。</a:t>
            </a:r>
            <a:endParaRPr lang="en-US" sz="180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FBEFE4"/>
                </a:solidFill>
              </a:rPr>
              <a:t>できない日があっていい。迷っていい。誰かに頼っていい。</a:t>
            </a:r>
            <a:endParaRPr lang="en-US" sz="180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600" dirty="0">
                <a:solidFill>
                  <a:srgbClr val="D8C4B3"/>
                </a:solidFill>
              </a:rPr>
              <a:t>ただ、一つだけ。</a:t>
            </a:r>
            <a:endParaRPr lang="en-US" sz="180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0876A"/>
                </a:solidFill>
              </a:rPr>
              <a:t>止まっても、また戻ってくる。</a:t>
            </a:r>
            <a:endParaRPr lang="en-US" sz="180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1600" dirty="0">
                <a:solidFill>
                  <a:srgbClr val="D8C4B3"/>
                </a:solidFill>
              </a:rPr>
              <a:t>そして戻ってきたとき、一緒に言いましょう。</a:t>
            </a:r>
            <a:endParaRPr lang="en-US" sz="1800" dirty="0"/>
          </a:p>
          <a:p>
            <a:pPr algn="ctr" indent="0" marL="0">
              <a:lnSpc>
                <a:spcPts val="3000"/>
              </a:lnSpc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FFFFFF"/>
                </a:solidFill>
              </a:rPr>
              <a:t>「戻ってこられた。今日も一つ、できた。」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29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A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600000">
            <a:off x="-1097280" y="-1005840"/>
            <a:ext cx="2743200" cy="2743200"/>
          </a:xfrm>
          <a:prstGeom prst="hexagon">
            <a:avLst/>
          </a:prstGeom>
          <a:solidFill>
            <a:srgbClr val="CE9A2E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840000">
            <a:off x="10058400" y="4846320"/>
            <a:ext cx="2926080" cy="2926080"/>
          </a:xfrm>
          <a:prstGeom prst="hexagon">
            <a:avLst/>
          </a:prstGeom>
          <a:solidFill>
            <a:srgbClr val="F0876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1320000">
            <a:off x="10241280" y="-1097280"/>
            <a:ext cx="1828800" cy="1828800"/>
          </a:xfrm>
          <a:prstGeom prst="hexagon">
            <a:avLst/>
          </a:prstGeom>
          <a:solidFill>
            <a:srgbClr val="2F9188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640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できたのかけらメソッド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 小さな「できた」から、自分を信じて目標を叶える90日間 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E9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第1期｜限定5名　90日間　298,000円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そして最後は、この言葉で。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876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「私なら、またできる。」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EFE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小さな「できた」が、あなたの未来への道しるべになる。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64190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できたのかけらワークショップ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37215" y="64190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C4B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2026-08-25T00:57:38Z</dcterms:created>
  <dcterms:modified xsi:type="dcterms:W3CDTF">2026-08-25T00:57:38Z</dcterms:modified>
</cp:coreProperties>
</file>